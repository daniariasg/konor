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1476" y="3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30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A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992727" y="2014085"/>
            <a:ext cx="4206240" cy="1477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600" b="1" dirty="0">
                <a:solidFill>
                  <a:srgbClr val="FFFFFF"/>
                </a:solidFill>
                <a:latin typeface="Aptos"/>
              </a:rPr>
              <a:t>KONOR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77378" y="3507803"/>
            <a:ext cx="2836937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dirty="0">
                <a:solidFill>
                  <a:srgbClr val="FAB800"/>
                </a:solidFill>
                <a:latin typeface="Aptos"/>
              </a:rPr>
              <a:t>Avance del Proyecto APT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1147" y="4081164"/>
            <a:ext cx="66294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s-CL" sz="2000" dirty="0">
                <a:solidFill>
                  <a:srgbClr val="E8EFF5"/>
                </a:solidFill>
                <a:latin typeface="Aptos"/>
              </a:rPr>
              <a:t>Sistema de </a:t>
            </a:r>
            <a:r>
              <a:rPr lang="es-CL" sz="2000" dirty="0">
                <a:solidFill>
                  <a:srgbClr val="E8EFF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/>
              </a:rPr>
              <a:t>centralización</a:t>
            </a:r>
            <a:r>
              <a:rPr lang="es-CL" sz="2000" dirty="0">
                <a:solidFill>
                  <a:srgbClr val="E8EFF5"/>
                </a:solidFill>
                <a:latin typeface="Aptos"/>
              </a:rPr>
              <a:t> y gestión de alumnos ayudantes</a:t>
            </a:r>
            <a:endParaRPr sz="2000" dirty="0">
              <a:solidFill>
                <a:srgbClr val="E8EFF5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42832" y="2057400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1">
                <a:solidFill>
                  <a:srgbClr val="0E3049"/>
                </a:solidFill>
                <a:latin typeface="Aptos"/>
              </a:rPr>
              <a:t>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459040"/>
            <a:ext cx="62179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dirty="0">
                <a:solidFill>
                  <a:srgbClr val="FFFFFF"/>
                </a:solidFill>
                <a:latin typeface="Aptos"/>
              </a:rPr>
              <a:t>Catalina Benítez Bravo  ·  Danitza Arias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806488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B8C9D6"/>
                </a:solidFill>
                <a:latin typeface="Aptos"/>
              </a:rPr>
              <a:t>Capstone · Ingeniería en Informática · Sede San Bernardo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267712" cy="6858000"/>
          </a:xfrm>
          <a:prstGeom prst="rect">
            <a:avLst/>
          </a:prstGeom>
          <a:solidFill>
            <a:srgbClr val="041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01168" y="164592"/>
            <a:ext cx="256032" cy="237743"/>
          </a:xfrm>
          <a:prstGeom prst="roundRect">
            <a:avLst/>
          </a:prstGeom>
          <a:solidFill>
            <a:srgbClr val="58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46888" y="214884"/>
            <a:ext cx="164592" cy="1371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500" b="1" dirty="0">
                <a:solidFill>
                  <a:srgbClr val="04124C"/>
                </a:solidFill>
                <a:latin typeface="Aptos"/>
              </a:rPr>
              <a:t>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6304"/>
            <a:ext cx="1417320" cy="2011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KONOR.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84048"/>
            <a:ext cx="1417320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50" b="1">
                <a:solidFill>
                  <a:srgbClr val="58C4DA"/>
                </a:solidFill>
                <a:latin typeface="Aptos"/>
              </a:rPr>
              <a:t>GESTIÓN AYUDANTES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" y="932688"/>
            <a:ext cx="1783080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850" b="1">
                <a:solidFill>
                  <a:srgbClr val="AABDD6"/>
                </a:solidFill>
                <a:latin typeface="Aptos"/>
              </a:rPr>
              <a:t>SECCIÓN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" y="1115568"/>
            <a:ext cx="1783080" cy="2926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550" b="1" dirty="0" err="1">
                <a:solidFill>
                  <a:srgbClr val="FFFFFF"/>
                </a:solidFill>
                <a:latin typeface="Aptos"/>
              </a:rPr>
              <a:t>Contexto</a:t>
            </a:r>
            <a:endParaRPr sz="155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24028" y="1673351"/>
            <a:ext cx="1810512" cy="411480"/>
          </a:xfrm>
          <a:prstGeom prst="roundRect">
            <a:avLst/>
          </a:prstGeom>
          <a:solidFill>
            <a:srgbClr val="47B0C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0896" y="1773936"/>
            <a:ext cx="141732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50" b="1">
                <a:solidFill>
                  <a:srgbClr val="04124C"/>
                </a:solidFill>
                <a:latin typeface="Aptos"/>
              </a:rPr>
              <a:t>Contexto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" y="2286000"/>
            <a:ext cx="141732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00" b="0">
                <a:solidFill>
                  <a:srgbClr val="E0E9F6"/>
                </a:solidFill>
                <a:latin typeface="Aptos"/>
              </a:rPr>
              <a:t>Problema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" y="2798064"/>
            <a:ext cx="141732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00" b="0">
                <a:solidFill>
                  <a:srgbClr val="E0E9F6"/>
                </a:solidFill>
                <a:latin typeface="Aptos"/>
              </a:rPr>
              <a:t>Arquitectura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" y="3310128"/>
            <a:ext cx="141732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00" b="0">
                <a:solidFill>
                  <a:srgbClr val="E0E9F6"/>
                </a:solidFill>
                <a:latin typeface="Aptos"/>
              </a:rPr>
              <a:t>TRL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" y="3822191"/>
            <a:ext cx="141732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00" b="0">
                <a:solidFill>
                  <a:srgbClr val="E0E9F6"/>
                </a:solidFill>
                <a:latin typeface="Aptos"/>
              </a:rPr>
              <a:t>Metodología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" y="6355080"/>
            <a:ext cx="1280160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"/>
              </a:rPr>
              <a:t>Cerrar sesión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05151" y="755951"/>
            <a:ext cx="9052560" cy="410369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500" b="1" dirty="0" err="1">
                <a:solidFill>
                  <a:srgbClr val="04124C"/>
                </a:solidFill>
                <a:latin typeface="Aptos"/>
              </a:rPr>
              <a:t>Operación</a:t>
            </a:r>
            <a:endParaRPr sz="2500" b="1" dirty="0">
              <a:solidFill>
                <a:srgbClr val="04124C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190240" y="1787144"/>
            <a:ext cx="17373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3263392" y="1911590"/>
            <a:ext cx="1591056" cy="3180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900" b="1">
                <a:solidFill>
                  <a:srgbClr val="47B0C4"/>
                </a:solidFill>
                <a:latin typeface="Aptos"/>
              </a:rPr>
              <a:t>50+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63392" y="2231253"/>
            <a:ext cx="1591056" cy="2026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150" b="1">
                <a:solidFill>
                  <a:srgbClr val="04124C"/>
                </a:solidFill>
                <a:latin typeface="Aptos"/>
              </a:rPr>
              <a:t>ayudantes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20208" y="1787144"/>
            <a:ext cx="17373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293360" y="1911590"/>
            <a:ext cx="1591056" cy="3180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900" b="1">
                <a:solidFill>
                  <a:srgbClr val="47B0C4"/>
                </a:solidFill>
                <a:latin typeface="Aptos"/>
              </a:rPr>
              <a:t>WhatsApp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93360" y="2231253"/>
            <a:ext cx="1591056" cy="2026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150" b="1">
                <a:solidFill>
                  <a:srgbClr val="04124C"/>
                </a:solidFill>
                <a:latin typeface="Aptos"/>
              </a:rPr>
              <a:t>disponibilidad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50176" y="1787144"/>
            <a:ext cx="17373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23328" y="1911590"/>
            <a:ext cx="1591056" cy="3180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900" b="1">
                <a:solidFill>
                  <a:srgbClr val="47B0C4"/>
                </a:solidFill>
                <a:latin typeface="Aptos"/>
              </a:rPr>
              <a:t>60 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23328" y="2231253"/>
            <a:ext cx="1591056" cy="2026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150" b="1">
                <a:solidFill>
                  <a:srgbClr val="04124C"/>
                </a:solidFill>
                <a:latin typeface="Aptos"/>
              </a:rPr>
              <a:t>tope mensual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80144" y="1787144"/>
            <a:ext cx="17373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353296" y="1911590"/>
            <a:ext cx="1591056" cy="3180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900" b="1">
                <a:solidFill>
                  <a:srgbClr val="47B0C4"/>
                </a:solidFill>
                <a:latin typeface="Aptos"/>
              </a:rPr>
              <a:t>Excel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3296" y="2231253"/>
            <a:ext cx="1591056" cy="2026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lang="es-CL" sz="1150" b="1" dirty="0">
                <a:solidFill>
                  <a:srgbClr val="04124C"/>
                </a:solidFill>
                <a:latin typeface="Aptos"/>
              </a:rPr>
              <a:t>Registro de horas</a:t>
            </a:r>
            <a:endParaRPr sz="1150" b="1" dirty="0">
              <a:solidFill>
                <a:srgbClr val="04124C"/>
              </a:solidFill>
              <a:latin typeface="Apto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499855" y="2995948"/>
            <a:ext cx="8589945" cy="313403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800" b="1" dirty="0" err="1">
                <a:solidFill>
                  <a:srgbClr val="04124C"/>
                </a:solidFill>
                <a:latin typeface="Aptos"/>
              </a:rPr>
              <a:t>Flujo</a:t>
            </a:r>
            <a:r>
              <a:rPr sz="1800" b="1" dirty="0">
                <a:solidFill>
                  <a:srgbClr val="04124C"/>
                </a:solidFill>
                <a:latin typeface="Aptos"/>
              </a:rPr>
              <a:t> actual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627451" y="3822191"/>
            <a:ext cx="1628159" cy="939830"/>
          </a:xfrm>
          <a:prstGeom prst="roundRect">
            <a:avLst/>
          </a:prstGeom>
          <a:solidFill>
            <a:srgbClr val="ECF9FC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694789" y="4163363"/>
            <a:ext cx="1493415" cy="2257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250" b="1">
                <a:solidFill>
                  <a:srgbClr val="04124C"/>
                </a:solidFill>
                <a:latin typeface="Aptos"/>
              </a:rPr>
              <a:t>Publica turnos</a:t>
            </a:r>
          </a:p>
        </p:txBody>
      </p:sp>
      <p:cxnSp>
        <p:nvCxnSpPr>
          <p:cNvPr id="43" name="Connector 42"/>
          <p:cNvCxnSpPr>
            <a:cxnSpLocks/>
          </p:cNvCxnSpPr>
          <p:nvPr/>
        </p:nvCxnSpPr>
        <p:spPr>
          <a:xfrm>
            <a:off x="4483901" y="4325603"/>
            <a:ext cx="370547" cy="0"/>
          </a:xfrm>
          <a:prstGeom prst="line">
            <a:avLst/>
          </a:prstGeom>
          <a:ln w="25400">
            <a:solidFill>
              <a:srgbClr val="47B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5140138" y="3783582"/>
            <a:ext cx="1628159" cy="939830"/>
          </a:xfrm>
          <a:prstGeom prst="roundRect">
            <a:avLst/>
          </a:prstGeom>
          <a:solidFill>
            <a:srgbClr val="ECF9FC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207476" y="4079629"/>
            <a:ext cx="1493415" cy="42495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250" b="1" dirty="0" err="1">
                <a:solidFill>
                  <a:srgbClr val="04124C"/>
                </a:solidFill>
                <a:latin typeface="Aptos"/>
              </a:rPr>
              <a:t>Responden</a:t>
            </a:r>
            <a:r>
              <a:rPr sz="1250" b="1" dirty="0">
                <a:solidFill>
                  <a:srgbClr val="04124C"/>
                </a:solidFill>
                <a:latin typeface="Aptos"/>
              </a:rPr>
              <a:t> </a:t>
            </a:r>
            <a:r>
              <a:rPr sz="1250" b="1" dirty="0" err="1">
                <a:solidFill>
                  <a:srgbClr val="04124C"/>
                </a:solidFill>
                <a:latin typeface="Aptos"/>
              </a:rPr>
              <a:t>por</a:t>
            </a:r>
            <a:r>
              <a:rPr sz="1250" b="1" dirty="0">
                <a:solidFill>
                  <a:srgbClr val="04124C"/>
                </a:solidFill>
                <a:latin typeface="Aptos"/>
              </a:rPr>
              <a:t> chat</a:t>
            </a:r>
          </a:p>
        </p:txBody>
      </p:sp>
      <p:cxnSp>
        <p:nvCxnSpPr>
          <p:cNvPr id="46" name="Connector 45"/>
          <p:cNvCxnSpPr>
            <a:cxnSpLocks/>
          </p:cNvCxnSpPr>
          <p:nvPr/>
        </p:nvCxnSpPr>
        <p:spPr>
          <a:xfrm>
            <a:off x="6957568" y="4300793"/>
            <a:ext cx="370547" cy="0"/>
          </a:xfrm>
          <a:prstGeom prst="line">
            <a:avLst/>
          </a:prstGeom>
          <a:ln w="25400">
            <a:solidFill>
              <a:srgbClr val="47B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7565921" y="3784267"/>
            <a:ext cx="1628159" cy="939830"/>
          </a:xfrm>
          <a:prstGeom prst="roundRect">
            <a:avLst/>
          </a:prstGeom>
          <a:solidFill>
            <a:srgbClr val="ECF9FC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633259" y="4058316"/>
            <a:ext cx="1493415" cy="410369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250" b="1" dirty="0">
                <a:solidFill>
                  <a:srgbClr val="04124C"/>
                </a:solidFill>
                <a:latin typeface="Aptos"/>
              </a:rPr>
              <a:t>Se </a:t>
            </a:r>
            <a:r>
              <a:rPr lang="es-CL" sz="1250" b="1" dirty="0">
                <a:solidFill>
                  <a:srgbClr val="04124C"/>
                </a:solidFill>
                <a:latin typeface="Aptos"/>
              </a:rPr>
              <a:t>envían y anotan</a:t>
            </a:r>
            <a:r>
              <a:rPr sz="1250" b="1" dirty="0">
                <a:solidFill>
                  <a:srgbClr val="04124C"/>
                </a:solidFill>
                <a:latin typeface="Aptos"/>
              </a:rPr>
              <a:t> horas</a:t>
            </a:r>
            <a:r>
              <a:rPr lang="es-CL" sz="1250" b="1" dirty="0">
                <a:solidFill>
                  <a:srgbClr val="04124C"/>
                </a:solidFill>
                <a:latin typeface="Aptos"/>
              </a:rPr>
              <a:t> por chat</a:t>
            </a:r>
            <a:endParaRPr sz="1250" b="1" dirty="0">
              <a:solidFill>
                <a:srgbClr val="04124C"/>
              </a:solidFill>
              <a:latin typeface="Aptos"/>
            </a:endParaRPr>
          </a:p>
        </p:txBody>
      </p:sp>
      <p:cxnSp>
        <p:nvCxnSpPr>
          <p:cNvPr id="49" name="Connector 48"/>
          <p:cNvCxnSpPr>
            <a:cxnSpLocks/>
          </p:cNvCxnSpPr>
          <p:nvPr/>
        </p:nvCxnSpPr>
        <p:spPr>
          <a:xfrm>
            <a:off x="9353296" y="4300793"/>
            <a:ext cx="370547" cy="0"/>
          </a:xfrm>
          <a:prstGeom prst="line">
            <a:avLst/>
          </a:prstGeom>
          <a:ln w="25400">
            <a:solidFill>
              <a:srgbClr val="47B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9983280" y="3784267"/>
            <a:ext cx="1628159" cy="939830"/>
          </a:xfrm>
          <a:prstGeom prst="roundRect">
            <a:avLst/>
          </a:prstGeom>
          <a:solidFill>
            <a:srgbClr val="ECFBF6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050618" y="4058315"/>
            <a:ext cx="1493415" cy="410369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lang="es-CL" sz="1250" b="1" dirty="0">
                <a:solidFill>
                  <a:srgbClr val="04124C"/>
                </a:solidFill>
                <a:latin typeface="Aptos"/>
              </a:rPr>
              <a:t>Se ingresa a un </a:t>
            </a:r>
            <a:r>
              <a:rPr lang="es-CL" sz="1250" b="1" dirty="0" err="1">
                <a:solidFill>
                  <a:srgbClr val="04124C"/>
                </a:solidFill>
                <a:latin typeface="Aptos"/>
              </a:rPr>
              <a:t>excel</a:t>
            </a:r>
            <a:endParaRPr sz="1250" b="1" dirty="0">
              <a:solidFill>
                <a:srgbClr val="04124C"/>
              </a:solidFill>
              <a:latin typeface="Aptos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3359404" y="5589015"/>
            <a:ext cx="7635240" cy="502920"/>
          </a:xfrm>
          <a:prstGeom prst="round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542284" y="5681457"/>
            <a:ext cx="7269480" cy="264175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550" b="1" dirty="0" err="1">
                <a:solidFill>
                  <a:srgbClr val="04124C"/>
                </a:solidFill>
                <a:latin typeface="Aptos"/>
              </a:rPr>
              <a:t>Afecta</a:t>
            </a:r>
            <a:r>
              <a:rPr sz="1550" b="1" dirty="0">
                <a:solidFill>
                  <a:srgbClr val="04124C"/>
                </a:solidFill>
                <a:latin typeface="Aptos"/>
              </a:rPr>
              <a:t> a </a:t>
            </a:r>
            <a:r>
              <a:rPr sz="1550" b="1" dirty="0" err="1">
                <a:solidFill>
                  <a:srgbClr val="04124C"/>
                </a:solidFill>
                <a:latin typeface="Aptos"/>
              </a:rPr>
              <a:t>coordinación</a:t>
            </a:r>
            <a:r>
              <a:rPr sz="1550" b="1" dirty="0">
                <a:solidFill>
                  <a:srgbClr val="04124C"/>
                </a:solidFill>
                <a:latin typeface="Aptos"/>
              </a:rPr>
              <a:t>, </a:t>
            </a:r>
            <a:r>
              <a:rPr sz="1550" b="1" dirty="0" err="1">
                <a:solidFill>
                  <a:srgbClr val="04124C"/>
                </a:solidFill>
                <a:latin typeface="Aptos"/>
              </a:rPr>
              <a:t>alumnos</a:t>
            </a:r>
            <a:r>
              <a:rPr sz="1550" b="1" dirty="0">
                <a:solidFill>
                  <a:srgbClr val="04124C"/>
                </a:solidFill>
                <a:latin typeface="Aptos"/>
              </a:rPr>
              <a:t> </a:t>
            </a:r>
            <a:r>
              <a:rPr sz="1550" b="1" dirty="0" err="1">
                <a:solidFill>
                  <a:srgbClr val="04124C"/>
                </a:solidFill>
                <a:latin typeface="Aptos"/>
              </a:rPr>
              <a:t>ayudantes</a:t>
            </a:r>
            <a:r>
              <a:rPr sz="1550" b="1" dirty="0">
                <a:solidFill>
                  <a:srgbClr val="04124C"/>
                </a:solidFill>
                <a:latin typeface="Aptos"/>
              </a:rPr>
              <a:t> y </a:t>
            </a:r>
            <a:r>
              <a:rPr sz="1550" b="1" dirty="0" err="1">
                <a:solidFill>
                  <a:srgbClr val="04124C"/>
                </a:solidFill>
                <a:latin typeface="Aptos"/>
              </a:rPr>
              <a:t>contabilidad</a:t>
            </a:r>
            <a:r>
              <a:rPr sz="1550" b="1" dirty="0">
                <a:solidFill>
                  <a:srgbClr val="04124C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267712" cy="6858000"/>
          </a:xfrm>
          <a:prstGeom prst="rect">
            <a:avLst/>
          </a:prstGeom>
          <a:solidFill>
            <a:srgbClr val="041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01168" y="164592"/>
            <a:ext cx="256032" cy="256031"/>
          </a:xfrm>
          <a:prstGeom prst="roundRect">
            <a:avLst/>
          </a:prstGeom>
          <a:solidFill>
            <a:srgbClr val="58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46888" y="214884"/>
            <a:ext cx="164592" cy="1371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500" b="1">
                <a:solidFill>
                  <a:srgbClr val="04124C"/>
                </a:solidFill>
                <a:latin typeface="Aptos"/>
              </a:rPr>
              <a:t>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6304"/>
            <a:ext cx="1417320" cy="2011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KONOR.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84048"/>
            <a:ext cx="1417320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50" b="1">
                <a:solidFill>
                  <a:srgbClr val="58C4DA"/>
                </a:solidFill>
                <a:latin typeface="Aptos"/>
              </a:rPr>
              <a:t>GESTIÓN AYUDANTES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" y="932688"/>
            <a:ext cx="1783080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850" b="1">
                <a:solidFill>
                  <a:srgbClr val="AABDD6"/>
                </a:solidFill>
                <a:latin typeface="Aptos"/>
              </a:rPr>
              <a:t>SECCIÓN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" y="1115568"/>
            <a:ext cx="1783080" cy="2926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Aptos"/>
              </a:rPr>
              <a:t>Diagnóstico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" y="1773936"/>
            <a:ext cx="141732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00" b="0">
                <a:solidFill>
                  <a:srgbClr val="E0E9F6"/>
                </a:solidFill>
                <a:latin typeface="Aptos"/>
              </a:rPr>
              <a:t>Contexto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4" y="2171700"/>
            <a:ext cx="1810512" cy="411480"/>
          </a:xfrm>
          <a:prstGeom prst="roundRect">
            <a:avLst/>
          </a:prstGeom>
          <a:solidFill>
            <a:srgbClr val="47B0C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0896" y="2286000"/>
            <a:ext cx="141732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50" b="1">
                <a:solidFill>
                  <a:srgbClr val="04124C"/>
                </a:solidFill>
                <a:latin typeface="Aptos"/>
              </a:rPr>
              <a:t>Problema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" y="2798064"/>
            <a:ext cx="141732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00" b="0">
                <a:solidFill>
                  <a:srgbClr val="E0E9F6"/>
                </a:solidFill>
                <a:latin typeface="Aptos"/>
              </a:rPr>
              <a:t>Arquitectura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" y="3310128"/>
            <a:ext cx="141732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00" b="0">
                <a:solidFill>
                  <a:srgbClr val="E0E9F6"/>
                </a:solidFill>
                <a:latin typeface="Aptos"/>
              </a:rPr>
              <a:t>TRL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" y="3822191"/>
            <a:ext cx="141732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00" b="0">
                <a:solidFill>
                  <a:srgbClr val="E0E9F6"/>
                </a:solidFill>
                <a:latin typeface="Aptos"/>
              </a:rPr>
              <a:t>Metodología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" y="6355080"/>
            <a:ext cx="1280160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"/>
              </a:rPr>
              <a:t>Cerrar sesión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2535" y="704088"/>
            <a:ext cx="905256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500" b="1" dirty="0" err="1">
                <a:solidFill>
                  <a:srgbClr val="04124C"/>
                </a:solidFill>
                <a:latin typeface="Aptos"/>
              </a:rPr>
              <a:t>Qué</a:t>
            </a:r>
            <a:r>
              <a:rPr sz="2500" b="1" dirty="0">
                <a:solidFill>
                  <a:srgbClr val="04124C"/>
                </a:solidFill>
                <a:latin typeface="Aptos"/>
              </a:rPr>
              <a:t> </a:t>
            </a:r>
            <a:r>
              <a:rPr sz="2500" b="1" dirty="0" err="1">
                <a:solidFill>
                  <a:srgbClr val="04124C"/>
                </a:solidFill>
                <a:latin typeface="Aptos"/>
              </a:rPr>
              <a:t>debemos</a:t>
            </a:r>
            <a:r>
              <a:rPr sz="2500" b="1" dirty="0">
                <a:solidFill>
                  <a:srgbClr val="04124C"/>
                </a:solidFill>
                <a:latin typeface="Aptos"/>
              </a:rPr>
              <a:t> resolver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31540" y="1371600"/>
            <a:ext cx="3566160" cy="1417320"/>
          </a:xfrm>
          <a:prstGeom prst="roundRect">
            <a:avLst/>
          </a:prstGeom>
          <a:solidFill>
            <a:srgbClr val="FFF1F0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559556" y="1517904"/>
            <a:ext cx="256032" cy="256032"/>
          </a:xfrm>
          <a:prstGeom prst="round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907028" y="1503293"/>
            <a:ext cx="2926080" cy="30264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r>
              <a:rPr sz="1800" b="1" dirty="0" err="1">
                <a:solidFill>
                  <a:srgbClr val="04124C"/>
                </a:solidFill>
                <a:latin typeface="Aptos"/>
              </a:rPr>
              <a:t>Inequidad</a:t>
            </a:r>
            <a:endParaRPr sz="1800" b="1" dirty="0">
              <a:solidFill>
                <a:srgbClr val="04124C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596132" y="1856232"/>
            <a:ext cx="3236976" cy="8229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350" b="0">
                <a:solidFill>
                  <a:srgbClr val="12213F"/>
                </a:solidFill>
                <a:latin typeface="Aptos"/>
              </a:rPr>
              <a:t>Responder primero no significa tener menos horas.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36028" y="1371600"/>
            <a:ext cx="3566160" cy="1417320"/>
          </a:xfrm>
          <a:prstGeom prst="roundRect">
            <a:avLst/>
          </a:prstGeom>
          <a:solidFill>
            <a:srgbClr val="FFF8DC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464044" y="1517904"/>
            <a:ext cx="256032" cy="256032"/>
          </a:xfrm>
          <a:prstGeom prst="roundRect">
            <a:avLst/>
          </a:prstGeom>
          <a:solidFill>
            <a:srgbClr val="FF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11516" y="1526600"/>
            <a:ext cx="2926080" cy="2560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800" b="1" dirty="0" err="1">
                <a:solidFill>
                  <a:srgbClr val="04124C"/>
                </a:solidFill>
                <a:latin typeface="Aptos"/>
              </a:rPr>
              <a:t>Choques</a:t>
            </a:r>
            <a:endParaRPr sz="1800" b="1" dirty="0">
              <a:solidFill>
                <a:srgbClr val="04124C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500620" y="1856232"/>
            <a:ext cx="3236976" cy="8229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350" b="0">
                <a:solidFill>
                  <a:srgbClr val="12213F"/>
                </a:solidFill>
                <a:latin typeface="Aptos"/>
              </a:rPr>
              <a:t>No existe validación automática de disponibilidad.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31540" y="3246120"/>
            <a:ext cx="3566160" cy="1417320"/>
          </a:xfrm>
          <a:prstGeom prst="roundRect">
            <a:avLst/>
          </a:prstGeom>
          <a:solidFill>
            <a:srgbClr val="F5F2FF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3559556" y="3392424"/>
            <a:ext cx="256032" cy="256032"/>
          </a:xfrm>
          <a:prstGeom prst="roundRect">
            <a:avLst/>
          </a:prstGeom>
          <a:solidFill>
            <a:srgbClr val="7C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907028" y="3389884"/>
            <a:ext cx="2926080" cy="2560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800" b="1" dirty="0">
                <a:solidFill>
                  <a:srgbClr val="04124C"/>
                </a:solidFill>
                <a:latin typeface="Aptos"/>
              </a:rPr>
              <a:t>Sin </a:t>
            </a:r>
            <a:r>
              <a:rPr sz="1800" b="1" dirty="0" err="1">
                <a:solidFill>
                  <a:srgbClr val="04124C"/>
                </a:solidFill>
                <a:latin typeface="Aptos"/>
              </a:rPr>
              <a:t>trazabilidad</a:t>
            </a:r>
            <a:endParaRPr sz="1800" b="1" dirty="0">
              <a:solidFill>
                <a:srgbClr val="04124C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596132" y="3730752"/>
            <a:ext cx="3236976" cy="8229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350" b="0">
                <a:solidFill>
                  <a:srgbClr val="12213F"/>
                </a:solidFill>
                <a:latin typeface="Aptos"/>
              </a:rPr>
              <a:t>Cambios y bajas quedan dispersos en el chat.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36028" y="3246120"/>
            <a:ext cx="3566160" cy="1417320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7464044" y="3392424"/>
            <a:ext cx="256032" cy="256032"/>
          </a:xfrm>
          <a:prstGeom prst="roundRect">
            <a:avLst/>
          </a:prstGeom>
          <a:solidFill>
            <a:srgbClr val="47B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811516" y="3366577"/>
            <a:ext cx="2926080" cy="30264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lang="es-CL" sz="1800" b="1" dirty="0">
                <a:solidFill>
                  <a:srgbClr val="04124C"/>
                </a:solidFill>
                <a:latin typeface="Aptos"/>
              </a:rPr>
              <a:t>Cuellos de botella</a:t>
            </a:r>
            <a:endParaRPr sz="1800" b="1" dirty="0">
              <a:solidFill>
                <a:srgbClr val="04124C"/>
              </a:solidFill>
              <a:latin typeface="Apto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500620" y="3730752"/>
            <a:ext cx="3236976" cy="8229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350" b="0">
                <a:solidFill>
                  <a:srgbClr val="12213F"/>
                </a:solidFill>
                <a:latin typeface="Aptos"/>
              </a:rPr>
              <a:t>La nómina se reconstruye manualmente al final.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49828" y="5010912"/>
            <a:ext cx="7452360" cy="548640"/>
          </a:xfrm>
          <a:prstGeom prst="roundRect">
            <a:avLst/>
          </a:prstGeom>
          <a:solidFill>
            <a:srgbClr val="EC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78428" y="5157216"/>
            <a:ext cx="6995160" cy="2011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550" b="1">
                <a:solidFill>
                  <a:srgbClr val="04124C"/>
                </a:solidFill>
                <a:latin typeface="Aptos"/>
              </a:rPr>
              <a:t>Necesidad: una única fuente de verdad para turnos, horas y pagos.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267712" cy="6858000"/>
          </a:xfrm>
          <a:prstGeom prst="rect">
            <a:avLst/>
          </a:prstGeom>
          <a:solidFill>
            <a:srgbClr val="041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01168" y="164592"/>
            <a:ext cx="256032" cy="292607"/>
          </a:xfrm>
          <a:prstGeom prst="roundRect">
            <a:avLst/>
          </a:prstGeom>
          <a:solidFill>
            <a:srgbClr val="58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46888" y="214884"/>
            <a:ext cx="164592" cy="1371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500" b="1">
                <a:solidFill>
                  <a:srgbClr val="04124C"/>
                </a:solidFill>
                <a:latin typeface="Aptos"/>
              </a:rPr>
              <a:t>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6304"/>
            <a:ext cx="1417320" cy="2011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KONOR.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84048"/>
            <a:ext cx="1417320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50" b="1">
                <a:solidFill>
                  <a:srgbClr val="58C4DA"/>
                </a:solidFill>
                <a:latin typeface="Aptos"/>
              </a:rPr>
              <a:t>GESTIÓN AYUDANTES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" y="932688"/>
            <a:ext cx="1783080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850" b="1">
                <a:solidFill>
                  <a:srgbClr val="AABDD6"/>
                </a:solidFill>
                <a:latin typeface="Aptos"/>
              </a:rPr>
              <a:t>SECCIÓN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" y="1115568"/>
            <a:ext cx="1783080" cy="2926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Aptos"/>
              </a:rPr>
              <a:t>Arquitectura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" y="1773936"/>
            <a:ext cx="141732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00" b="0">
                <a:solidFill>
                  <a:srgbClr val="E0E9F6"/>
                </a:solidFill>
                <a:latin typeface="Aptos"/>
              </a:rPr>
              <a:t>Contexto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" y="2286000"/>
            <a:ext cx="141732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00" b="0">
                <a:solidFill>
                  <a:srgbClr val="E0E9F6"/>
                </a:solidFill>
                <a:latin typeface="Aptos"/>
              </a:rPr>
              <a:t>Problema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4884" y="2697481"/>
            <a:ext cx="1810512" cy="411480"/>
          </a:xfrm>
          <a:prstGeom prst="roundRect">
            <a:avLst/>
          </a:prstGeom>
          <a:solidFill>
            <a:srgbClr val="47B0C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310896" y="2798064"/>
            <a:ext cx="141732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50" b="1">
                <a:solidFill>
                  <a:srgbClr val="04124C"/>
                </a:solidFill>
                <a:latin typeface="Aptos"/>
              </a:rPr>
              <a:t>Arquitectura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" y="3310128"/>
            <a:ext cx="141732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00" b="0">
                <a:solidFill>
                  <a:srgbClr val="E0E9F6"/>
                </a:solidFill>
                <a:latin typeface="Aptos"/>
              </a:rPr>
              <a:t>TRL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" y="3822191"/>
            <a:ext cx="141732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00" b="0">
                <a:solidFill>
                  <a:srgbClr val="E0E9F6"/>
                </a:solidFill>
                <a:latin typeface="Aptos"/>
              </a:rPr>
              <a:t>Metodología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" y="6355080"/>
            <a:ext cx="1280160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"/>
              </a:rPr>
              <a:t>Cerrar sesión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78608" y="914400"/>
            <a:ext cx="905256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500" b="1" dirty="0" err="1">
                <a:solidFill>
                  <a:srgbClr val="04124C"/>
                </a:solidFill>
                <a:latin typeface="Aptos"/>
              </a:rPr>
              <a:t>Arquitectura</a:t>
            </a:r>
            <a:r>
              <a:rPr sz="2500" b="1" dirty="0">
                <a:solidFill>
                  <a:srgbClr val="04124C"/>
                </a:solidFill>
                <a:latin typeface="Aptos"/>
              </a:rPr>
              <a:t> </a:t>
            </a:r>
            <a:r>
              <a:rPr sz="2500" b="1" dirty="0" err="1">
                <a:solidFill>
                  <a:srgbClr val="04124C"/>
                </a:solidFill>
                <a:latin typeface="Aptos"/>
              </a:rPr>
              <a:t>en</a:t>
            </a:r>
            <a:r>
              <a:rPr sz="2500" b="1" dirty="0">
                <a:solidFill>
                  <a:srgbClr val="04124C"/>
                </a:solidFill>
                <a:latin typeface="Aptos"/>
              </a:rPr>
              <a:t> </a:t>
            </a:r>
            <a:r>
              <a:rPr sz="2500" b="1" dirty="0" err="1">
                <a:solidFill>
                  <a:srgbClr val="04124C"/>
                </a:solidFill>
                <a:latin typeface="Aptos"/>
              </a:rPr>
              <a:t>capas</a:t>
            </a:r>
            <a:endParaRPr sz="2500" b="1" dirty="0">
              <a:solidFill>
                <a:srgbClr val="04124C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2578608" y="1664208"/>
            <a:ext cx="2057400" cy="310896"/>
          </a:xfrm>
          <a:prstGeom prst="roundRect">
            <a:avLst/>
          </a:prstGeom>
          <a:solidFill>
            <a:srgbClr val="EC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606040" y="1709928"/>
            <a:ext cx="2002536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250" b="1">
                <a:solidFill>
                  <a:srgbClr val="04124C"/>
                </a:solidFill>
                <a:latin typeface="Aptos"/>
              </a:rPr>
              <a:t>Responsabilidades claras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0" y="1664208"/>
            <a:ext cx="1783080" cy="310896"/>
          </a:xfrm>
          <a:prstGeom prst="roundRect">
            <a:avLst/>
          </a:prstGeom>
          <a:solidFill>
            <a:srgbClr val="EC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82312" y="1709928"/>
            <a:ext cx="1728216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250" b="1">
                <a:solidFill>
                  <a:srgbClr val="04124C"/>
                </a:solidFill>
                <a:latin typeface="Aptos"/>
              </a:rPr>
              <a:t>Mejor mantenimiento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75120" y="1664208"/>
            <a:ext cx="1874519" cy="310896"/>
          </a:xfrm>
          <a:prstGeom prst="roundRect">
            <a:avLst/>
          </a:prstGeom>
          <a:solidFill>
            <a:srgbClr val="EC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02552" y="1709928"/>
            <a:ext cx="1819655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250" b="1">
                <a:solidFill>
                  <a:srgbClr val="04124C"/>
                </a:solidFill>
                <a:latin typeface="Aptos"/>
              </a:rPr>
              <a:t>Pruebas más seguras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606040" y="2331720"/>
            <a:ext cx="9275064" cy="1801368"/>
          </a:xfrm>
          <a:prstGeom prst="roundRect">
            <a:avLst/>
          </a:prstGeom>
          <a:solidFill>
            <a:srgbClr val="FFF8DC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2761487" y="2468880"/>
            <a:ext cx="617057" cy="594659"/>
          </a:xfrm>
          <a:prstGeom prst="roundRect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761487" y="2634259"/>
            <a:ext cx="617057" cy="23339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04124C"/>
                </a:solidFill>
                <a:latin typeface="Aptos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33991" y="2590352"/>
            <a:ext cx="3926729" cy="30264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dirty="0"/>
              <a:t>Capa externa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19" y="2621130"/>
            <a:ext cx="5118771" cy="2410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/>
            <a:r>
              <a:rPr sz="1400" b="0">
                <a:solidFill>
                  <a:srgbClr val="12213F"/>
                </a:solidFill>
                <a:latin typeface="Aptos"/>
              </a:rPr>
              <a:t>WhatsApp · Excel / SheetJS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606040" y="3127248"/>
            <a:ext cx="9275064" cy="1801368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2761487" y="3234226"/>
            <a:ext cx="617057" cy="596323"/>
          </a:xfrm>
          <a:prstGeom prst="roundRect">
            <a:avLst/>
          </a:prstGeom>
          <a:solidFill>
            <a:srgbClr val="47B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761487" y="3429787"/>
            <a:ext cx="617057" cy="23339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33990" y="3401269"/>
            <a:ext cx="3926729" cy="271869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600" b="1" dirty="0">
                <a:solidFill>
                  <a:srgbClr val="04124C"/>
                </a:solidFill>
                <a:latin typeface="Aptos"/>
              </a:rPr>
              <a:t>Presentación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19" y="3416658"/>
            <a:ext cx="5118771" cy="2410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/>
            <a:r>
              <a:rPr sz="1400" b="0">
                <a:solidFill>
                  <a:srgbClr val="12213F"/>
                </a:solidFill>
                <a:latin typeface="Aptos"/>
              </a:rPr>
              <a:t>React + Vite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06040" y="3922776"/>
            <a:ext cx="9329928" cy="1627632"/>
          </a:xfrm>
          <a:prstGeom prst="roundRect">
            <a:avLst/>
          </a:prstGeom>
          <a:solidFill>
            <a:srgbClr val="ECF9FC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2761487" y="4041073"/>
            <a:ext cx="617057" cy="585004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761487" y="4225315"/>
            <a:ext cx="617057" cy="23339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33989" y="4214107"/>
            <a:ext cx="3926729" cy="271869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600" b="1" dirty="0" err="1">
                <a:solidFill>
                  <a:srgbClr val="04124C"/>
                </a:solidFill>
                <a:latin typeface="Aptos"/>
              </a:rPr>
              <a:t>Lógica</a:t>
            </a:r>
            <a:r>
              <a:rPr sz="1600" b="1" dirty="0">
                <a:solidFill>
                  <a:srgbClr val="04124C"/>
                </a:solidFill>
                <a:latin typeface="Aptos"/>
              </a:rPr>
              <a:t> / API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19" y="4212186"/>
            <a:ext cx="5118771" cy="2410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/>
            <a:r>
              <a:rPr sz="1400" b="0">
                <a:solidFill>
                  <a:srgbClr val="12213F"/>
                </a:solidFill>
                <a:latin typeface="Aptos"/>
              </a:rPr>
              <a:t>Supabase Auth · REST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606040" y="4718304"/>
            <a:ext cx="9275064" cy="832104"/>
          </a:xfrm>
          <a:prstGeom prst="roundRect">
            <a:avLst/>
          </a:prstGeom>
          <a:solidFill>
            <a:srgbClr val="ECFBF6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2761486" y="4850743"/>
            <a:ext cx="617057" cy="545890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9" name="TextBox 48"/>
          <p:cNvSpPr txBox="1"/>
          <p:nvPr/>
        </p:nvSpPr>
        <p:spPr>
          <a:xfrm>
            <a:off x="2761487" y="5020843"/>
            <a:ext cx="617057" cy="23339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33988" y="4998421"/>
            <a:ext cx="3926729" cy="271869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600" b="1" dirty="0" err="1">
                <a:solidFill>
                  <a:srgbClr val="04124C"/>
                </a:solidFill>
                <a:latin typeface="Aptos"/>
              </a:rPr>
              <a:t>Persistencia</a:t>
            </a:r>
            <a:endParaRPr sz="1600" b="1" dirty="0">
              <a:solidFill>
                <a:srgbClr val="04124C"/>
              </a:solidFill>
              <a:latin typeface="Apto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446519" y="5007714"/>
            <a:ext cx="5118771" cy="2410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/>
            <a:r>
              <a:rPr sz="1400" b="0">
                <a:solidFill>
                  <a:srgbClr val="12213F"/>
                </a:solidFill>
                <a:latin typeface="Aptos"/>
              </a:rPr>
              <a:t>Supabase PostgreSQL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267712" cy="6858000"/>
          </a:xfrm>
          <a:prstGeom prst="rect">
            <a:avLst/>
          </a:prstGeom>
          <a:solidFill>
            <a:srgbClr val="041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01168" y="164592"/>
            <a:ext cx="256032" cy="292607"/>
          </a:xfrm>
          <a:prstGeom prst="roundRect">
            <a:avLst/>
          </a:prstGeom>
          <a:solidFill>
            <a:srgbClr val="58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46888" y="214884"/>
            <a:ext cx="164592" cy="1371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500" b="1">
                <a:solidFill>
                  <a:srgbClr val="04124C"/>
                </a:solidFill>
                <a:latin typeface="Aptos"/>
              </a:rPr>
              <a:t>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6304"/>
            <a:ext cx="1417320" cy="2011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KONOR.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84048"/>
            <a:ext cx="1417320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50" b="1">
                <a:solidFill>
                  <a:srgbClr val="58C4DA"/>
                </a:solidFill>
                <a:latin typeface="Aptos"/>
              </a:rPr>
              <a:t>GESTIÓN AYUDANTES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" y="932688"/>
            <a:ext cx="1783080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850" b="1">
                <a:solidFill>
                  <a:srgbClr val="AABDD6"/>
                </a:solidFill>
                <a:latin typeface="Aptos"/>
              </a:rPr>
              <a:t>SECCIÓN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" y="1115568"/>
            <a:ext cx="1783080" cy="2926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Aptos"/>
              </a:rPr>
              <a:t>Arquitectura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" y="1773936"/>
            <a:ext cx="141732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00" b="0">
                <a:solidFill>
                  <a:srgbClr val="E0E9F6"/>
                </a:solidFill>
                <a:latin typeface="Aptos"/>
              </a:rPr>
              <a:t>Contexto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" y="2286000"/>
            <a:ext cx="141732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00" b="0">
                <a:solidFill>
                  <a:srgbClr val="E0E9F6"/>
                </a:solidFill>
                <a:latin typeface="Aptos"/>
              </a:rPr>
              <a:t>Problema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" y="2683764"/>
            <a:ext cx="1810512" cy="411480"/>
          </a:xfrm>
          <a:prstGeom prst="roundRect">
            <a:avLst/>
          </a:prstGeom>
          <a:solidFill>
            <a:srgbClr val="47B0C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0896" y="2798064"/>
            <a:ext cx="141732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50" b="1">
                <a:solidFill>
                  <a:srgbClr val="04124C"/>
                </a:solidFill>
                <a:latin typeface="Aptos"/>
              </a:rPr>
              <a:t>Arquitectura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" y="3310128"/>
            <a:ext cx="141732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00" b="0">
                <a:solidFill>
                  <a:srgbClr val="E0E9F6"/>
                </a:solidFill>
                <a:latin typeface="Aptos"/>
              </a:rPr>
              <a:t>TRL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" y="3822191"/>
            <a:ext cx="141732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00" b="0">
                <a:solidFill>
                  <a:srgbClr val="E0E9F6"/>
                </a:solidFill>
                <a:latin typeface="Aptos"/>
              </a:rPr>
              <a:t>Metodología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" y="6355080"/>
            <a:ext cx="1280160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"/>
              </a:rPr>
              <a:t>Cerrar sesión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07022" y="182210"/>
            <a:ext cx="1115568" cy="348813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endParaRPr lang="es-CL" sz="1050" b="1" dirty="0">
              <a:solidFill>
                <a:srgbClr val="04124C"/>
              </a:solidFill>
              <a:latin typeface="Aptos"/>
            </a:endParaRPr>
          </a:p>
          <a:p>
            <a:pPr algn="ctr"/>
            <a:endParaRPr sz="1050" b="1" dirty="0">
              <a:solidFill>
                <a:srgbClr val="04124C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556387" y="723266"/>
            <a:ext cx="9052560" cy="410369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lang="es-CL" sz="2500" b="1" dirty="0">
                <a:solidFill>
                  <a:srgbClr val="04124C"/>
                </a:solidFill>
                <a:latin typeface="Aptos"/>
              </a:rPr>
              <a:t>Capa Externa – Capa 0</a:t>
            </a:r>
            <a:endParaRPr sz="2500" b="1" dirty="0">
              <a:solidFill>
                <a:srgbClr val="04124C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374586" y="2176051"/>
            <a:ext cx="3520440" cy="2441669"/>
          </a:xfrm>
          <a:prstGeom prst="roundRect">
            <a:avLst/>
          </a:prstGeom>
          <a:solidFill>
            <a:srgbClr val="ECF9FC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502602" y="2432304"/>
            <a:ext cx="256032" cy="256032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50074" y="2450592"/>
            <a:ext cx="2880360" cy="2560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100" b="1" dirty="0">
                <a:solidFill>
                  <a:srgbClr val="04124C"/>
                </a:solidFill>
                <a:latin typeface="Aptos"/>
              </a:rPr>
              <a:t>WhatsApp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39178" y="2980944"/>
            <a:ext cx="3191256" cy="17373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0" dirty="0" err="1">
                <a:solidFill>
                  <a:srgbClr val="12213F"/>
                </a:solidFill>
                <a:latin typeface="Aptos"/>
              </a:rPr>
              <a:t>Disponibilidad</a:t>
            </a:r>
            <a:r>
              <a:rPr sz="1600" b="0" dirty="0">
                <a:solidFill>
                  <a:srgbClr val="12213F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12213F"/>
                </a:solidFill>
                <a:latin typeface="Aptos"/>
              </a:rPr>
              <a:t>en</a:t>
            </a:r>
            <a:r>
              <a:rPr sz="1600" b="0" dirty="0">
                <a:solidFill>
                  <a:srgbClr val="12213F"/>
                </a:solidFill>
                <a:latin typeface="Aptos"/>
              </a:rPr>
              <a:t> vivo
• </a:t>
            </a:r>
            <a:r>
              <a:rPr sz="1600" b="0" dirty="0" err="1">
                <a:solidFill>
                  <a:srgbClr val="12213F"/>
                </a:solidFill>
                <a:latin typeface="Aptos"/>
              </a:rPr>
              <a:t>respuesta</a:t>
            </a:r>
            <a:r>
              <a:rPr sz="1600" b="0" dirty="0">
                <a:solidFill>
                  <a:srgbClr val="12213F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12213F"/>
                </a:solidFill>
                <a:latin typeface="Aptos"/>
              </a:rPr>
              <a:t>rápida</a:t>
            </a:r>
            <a:r>
              <a:rPr sz="1600" b="0" dirty="0">
                <a:solidFill>
                  <a:srgbClr val="12213F"/>
                </a:solidFill>
                <a:latin typeface="Aptos"/>
              </a:rPr>
              <a:t>
• no </a:t>
            </a:r>
            <a:r>
              <a:rPr sz="1600" b="0" dirty="0" err="1">
                <a:solidFill>
                  <a:srgbClr val="12213F"/>
                </a:solidFill>
                <a:latin typeface="Aptos"/>
              </a:rPr>
              <a:t>almacena</a:t>
            </a:r>
            <a:r>
              <a:rPr sz="1600" b="0" dirty="0">
                <a:solidFill>
                  <a:srgbClr val="12213F"/>
                </a:solidFill>
                <a:latin typeface="Aptos"/>
              </a:rPr>
              <a:t> la </a:t>
            </a:r>
            <a:r>
              <a:rPr sz="1600" b="0" dirty="0" err="1">
                <a:solidFill>
                  <a:srgbClr val="12213F"/>
                </a:solidFill>
                <a:latin typeface="Aptos"/>
              </a:rPr>
              <a:t>operación</a:t>
            </a:r>
            <a:r>
              <a:rPr sz="1600" b="0" dirty="0">
                <a:solidFill>
                  <a:srgbClr val="12213F"/>
                </a:solidFill>
                <a:latin typeface="Aptos"/>
              </a:rPr>
              <a:t> formal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96778" y="2286000"/>
            <a:ext cx="3520440" cy="2331720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324794" y="2432304"/>
            <a:ext cx="256032" cy="256032"/>
          </a:xfrm>
          <a:prstGeom prst="roundRect">
            <a:avLst/>
          </a:prstGeom>
          <a:solidFill>
            <a:srgbClr val="47B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672266" y="2451716"/>
            <a:ext cx="2880360" cy="2560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100" b="1">
                <a:solidFill>
                  <a:srgbClr val="04124C"/>
                </a:solidFill>
                <a:latin typeface="Aptos"/>
              </a:rPr>
              <a:t>Excel / SheetJS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810" y="2980944"/>
            <a:ext cx="3191256" cy="17373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0" dirty="0">
                <a:solidFill>
                  <a:srgbClr val="12213F"/>
                </a:solidFill>
                <a:latin typeface="Aptos"/>
              </a:rPr>
              <a:t>Entrada y salida </a:t>
            </a:r>
            <a:r>
              <a:rPr sz="1600" b="0" dirty="0" err="1">
                <a:solidFill>
                  <a:srgbClr val="12213F"/>
                </a:solidFill>
                <a:latin typeface="Aptos"/>
              </a:rPr>
              <a:t>estructurada</a:t>
            </a:r>
            <a:r>
              <a:rPr sz="1600" b="0" dirty="0">
                <a:solidFill>
                  <a:srgbClr val="12213F"/>
                </a:solidFill>
                <a:latin typeface="Aptos"/>
              </a:rPr>
              <a:t>
• carga </a:t>
            </a:r>
            <a:r>
              <a:rPr sz="1600" b="0" dirty="0" err="1">
                <a:solidFill>
                  <a:srgbClr val="12213F"/>
                </a:solidFill>
                <a:latin typeface="Aptos"/>
              </a:rPr>
              <a:t>masiva</a:t>
            </a:r>
            <a:r>
              <a:rPr sz="1600" b="0" dirty="0">
                <a:solidFill>
                  <a:srgbClr val="12213F"/>
                </a:solidFill>
                <a:latin typeface="Aptos"/>
              </a:rPr>
              <a:t>
• </a:t>
            </a:r>
            <a:r>
              <a:rPr sz="1600" b="0" dirty="0" err="1">
                <a:solidFill>
                  <a:srgbClr val="12213F"/>
                </a:solidFill>
                <a:latin typeface="Aptos"/>
              </a:rPr>
              <a:t>exportación</a:t>
            </a:r>
            <a:r>
              <a:rPr sz="1600" b="0" dirty="0">
                <a:solidFill>
                  <a:srgbClr val="12213F"/>
                </a:solidFill>
                <a:latin typeface="Aptos"/>
              </a:rPr>
              <a:t> de </a:t>
            </a:r>
            <a:r>
              <a:rPr sz="1600" b="0" dirty="0" err="1">
                <a:solidFill>
                  <a:srgbClr val="12213F"/>
                </a:solidFill>
                <a:latin typeface="Aptos"/>
              </a:rPr>
              <a:t>nómina</a:t>
            </a:r>
            <a:endParaRPr sz="1600" b="0" dirty="0">
              <a:solidFill>
                <a:srgbClr val="12213F"/>
              </a:solidFill>
              <a:latin typeface="Aptos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5139378" y="4800600"/>
            <a:ext cx="0" cy="594360"/>
          </a:xfrm>
          <a:prstGeom prst="line">
            <a:avLst/>
          </a:prstGeom>
          <a:ln w="27940">
            <a:solidFill>
              <a:srgbClr val="47B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934138" y="4800600"/>
            <a:ext cx="0" cy="594360"/>
          </a:xfrm>
          <a:prstGeom prst="line">
            <a:avLst/>
          </a:prstGeom>
          <a:ln w="27940">
            <a:solidFill>
              <a:srgbClr val="47B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3584898" y="5550408"/>
            <a:ext cx="2834640" cy="310896"/>
          </a:xfrm>
          <a:prstGeom prst="round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12330" y="5596128"/>
            <a:ext cx="2779776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lang="es-CL" sz="1400" b="1" dirty="0">
                <a:solidFill>
                  <a:srgbClr val="04124C"/>
                </a:solidFill>
                <a:latin typeface="Aptos"/>
              </a:rPr>
              <a:t>Confirma disponibilidad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08258" y="5550408"/>
            <a:ext cx="2697480" cy="310896"/>
          </a:xfrm>
          <a:prstGeom prst="roundRect">
            <a:avLst/>
          </a:prstGeom>
          <a:solidFill>
            <a:srgbClr val="EC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635690" y="5596128"/>
            <a:ext cx="2642616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400" b="1">
                <a:solidFill>
                  <a:srgbClr val="04124C"/>
                </a:solidFill>
                <a:latin typeface="Aptos"/>
              </a:rPr>
              <a:t>Importa / exporta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267712" cy="6858000"/>
          </a:xfrm>
          <a:prstGeom prst="rect">
            <a:avLst/>
          </a:prstGeom>
          <a:solidFill>
            <a:srgbClr val="041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01168" y="164592"/>
            <a:ext cx="256032" cy="283463"/>
          </a:xfrm>
          <a:prstGeom prst="roundRect">
            <a:avLst/>
          </a:prstGeom>
          <a:solidFill>
            <a:srgbClr val="58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46888" y="214884"/>
            <a:ext cx="164592" cy="1371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500" b="1">
                <a:solidFill>
                  <a:srgbClr val="04124C"/>
                </a:solidFill>
                <a:latin typeface="Aptos"/>
              </a:rPr>
              <a:t>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6304"/>
            <a:ext cx="1417320" cy="2011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KONOR.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84048"/>
            <a:ext cx="1417320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50" b="1">
                <a:solidFill>
                  <a:srgbClr val="58C4DA"/>
                </a:solidFill>
                <a:latin typeface="Aptos"/>
              </a:rPr>
              <a:t>GESTIÓN AYUDANTES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" y="932688"/>
            <a:ext cx="1783080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850" b="1">
                <a:solidFill>
                  <a:srgbClr val="AABDD6"/>
                </a:solidFill>
                <a:latin typeface="Aptos"/>
              </a:rPr>
              <a:t>SECCIÓN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" y="1115568"/>
            <a:ext cx="1783080" cy="2926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Aptos"/>
              </a:rPr>
              <a:t>Arquitectura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" y="1773936"/>
            <a:ext cx="141732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00" b="0">
                <a:solidFill>
                  <a:srgbClr val="E0E9F6"/>
                </a:solidFill>
                <a:latin typeface="Aptos"/>
              </a:rPr>
              <a:t>Contexto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" y="2286000"/>
            <a:ext cx="141732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00" b="0">
                <a:solidFill>
                  <a:srgbClr val="E0E9F6"/>
                </a:solidFill>
                <a:latin typeface="Aptos"/>
              </a:rPr>
              <a:t>Problema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" y="2709172"/>
            <a:ext cx="1810512" cy="411480"/>
          </a:xfrm>
          <a:prstGeom prst="roundRect">
            <a:avLst/>
          </a:prstGeom>
          <a:solidFill>
            <a:srgbClr val="47B0C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310896" y="2798064"/>
            <a:ext cx="141732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50" b="1">
                <a:solidFill>
                  <a:srgbClr val="04124C"/>
                </a:solidFill>
                <a:latin typeface="Aptos"/>
              </a:rPr>
              <a:t>Arquitectura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" y="3310128"/>
            <a:ext cx="141732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00" b="0">
                <a:solidFill>
                  <a:srgbClr val="E0E9F6"/>
                </a:solidFill>
                <a:latin typeface="Aptos"/>
              </a:rPr>
              <a:t>TRL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" y="3822191"/>
            <a:ext cx="141732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00" b="0">
                <a:solidFill>
                  <a:srgbClr val="E0E9F6"/>
                </a:solidFill>
                <a:latin typeface="Aptos"/>
              </a:rPr>
              <a:t>Metodología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" y="6355080"/>
            <a:ext cx="1280160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"/>
              </a:rPr>
              <a:t>Cerrar sesión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809799"/>
            <a:ext cx="9052560" cy="410369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lang="es-CL" sz="2500" b="1" dirty="0">
                <a:solidFill>
                  <a:srgbClr val="04124C"/>
                </a:solidFill>
                <a:latin typeface="Aptos"/>
              </a:rPr>
              <a:t>Capa de </a:t>
            </a:r>
            <a:r>
              <a:rPr sz="2500" b="1" dirty="0">
                <a:solidFill>
                  <a:srgbClr val="04124C"/>
                </a:solidFill>
                <a:latin typeface="Aptos"/>
              </a:rPr>
              <a:t>Presentación / Frontend</a:t>
            </a:r>
            <a:r>
              <a:rPr lang="es-CL" sz="2500" b="1" dirty="0">
                <a:solidFill>
                  <a:srgbClr val="04124C"/>
                </a:solidFill>
                <a:latin typeface="Aptos"/>
              </a:rPr>
              <a:t> – Capa 1</a:t>
            </a:r>
            <a:endParaRPr sz="2500" b="1" dirty="0">
              <a:solidFill>
                <a:srgbClr val="04124C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2679192" y="1407402"/>
            <a:ext cx="1463040" cy="310896"/>
          </a:xfrm>
          <a:prstGeom prst="roundRect">
            <a:avLst/>
          </a:prstGeom>
          <a:solidFill>
            <a:srgbClr val="EE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06624" y="1453122"/>
            <a:ext cx="1408176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47B0C4"/>
                </a:solidFill>
                <a:latin typeface="Aptos"/>
              </a:rPr>
              <a:t>React 18/19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79392" y="1407402"/>
            <a:ext cx="1051560" cy="310896"/>
          </a:xfrm>
          <a:prstGeom prst="roundRect">
            <a:avLst/>
          </a:prstGeom>
          <a:solidFill>
            <a:srgbClr val="EE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06824" y="1453122"/>
            <a:ext cx="996696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47B0C4"/>
                </a:solidFill>
                <a:latin typeface="Aptos"/>
              </a:rPr>
              <a:t>Vite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68112" y="1407402"/>
            <a:ext cx="1783080" cy="310896"/>
          </a:xfrm>
          <a:prstGeom prst="roundRect">
            <a:avLst/>
          </a:prstGeom>
          <a:solidFill>
            <a:srgbClr val="EE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95544" y="1453122"/>
            <a:ext cx="1728216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47B0C4"/>
                </a:solidFill>
                <a:latin typeface="Aptos"/>
              </a:rPr>
              <a:t>Tailwind CSS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88352" y="1407402"/>
            <a:ext cx="1737360" cy="310896"/>
          </a:xfrm>
          <a:prstGeom prst="roundRect">
            <a:avLst/>
          </a:prstGeom>
          <a:solidFill>
            <a:srgbClr val="EE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15784" y="1453122"/>
            <a:ext cx="1682496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47B0C4"/>
                </a:solidFill>
                <a:latin typeface="Aptos"/>
              </a:rPr>
              <a:t>Lucide React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38731" y="2162629"/>
            <a:ext cx="2926080" cy="328796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3766747" y="2533662"/>
            <a:ext cx="256032" cy="256032"/>
          </a:xfrm>
          <a:prstGeom prst="roundRect">
            <a:avLst/>
          </a:prstGeom>
          <a:solidFill>
            <a:srgbClr val="47B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073652" y="2533662"/>
            <a:ext cx="2286000" cy="2560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000" b="1" dirty="0" err="1">
                <a:solidFill>
                  <a:srgbClr val="04124C"/>
                </a:solidFill>
                <a:latin typeface="Aptos"/>
              </a:rPr>
              <a:t>Módulo</a:t>
            </a:r>
            <a:r>
              <a:rPr sz="2000" b="1" dirty="0">
                <a:solidFill>
                  <a:srgbClr val="04124C"/>
                </a:solidFill>
                <a:latin typeface="Aptos"/>
              </a:rPr>
              <a:t> principal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03323" y="3064014"/>
            <a:ext cx="2596896" cy="2468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0" dirty="0" err="1">
                <a:solidFill>
                  <a:srgbClr val="12213F"/>
                </a:solidFill>
                <a:latin typeface="Aptos"/>
              </a:rPr>
              <a:t>Gestión</a:t>
            </a:r>
            <a:r>
              <a:rPr sz="1600" b="0" dirty="0">
                <a:solidFill>
                  <a:srgbClr val="12213F"/>
                </a:solidFill>
                <a:latin typeface="Aptos"/>
              </a:rPr>
              <a:t> de </a:t>
            </a:r>
            <a:r>
              <a:rPr sz="1600" b="0" dirty="0" err="1">
                <a:solidFill>
                  <a:srgbClr val="12213F"/>
                </a:solidFill>
                <a:latin typeface="Aptos"/>
              </a:rPr>
              <a:t>turnos</a:t>
            </a:r>
            <a:r>
              <a:rPr sz="1600" b="0" dirty="0">
                <a:solidFill>
                  <a:srgbClr val="12213F"/>
                </a:solidFill>
                <a:latin typeface="Aptos"/>
              </a:rPr>
              <a:t>
• </a:t>
            </a:r>
            <a:r>
              <a:rPr sz="1600" b="0" dirty="0" err="1">
                <a:solidFill>
                  <a:srgbClr val="12213F"/>
                </a:solidFill>
                <a:latin typeface="Aptos"/>
              </a:rPr>
              <a:t>buscador</a:t>
            </a:r>
            <a:r>
              <a:rPr sz="1600" b="0" dirty="0">
                <a:solidFill>
                  <a:srgbClr val="12213F"/>
                </a:solidFill>
                <a:latin typeface="Aptos"/>
              </a:rPr>
              <a:t>
• </a:t>
            </a:r>
            <a:r>
              <a:rPr sz="1600" b="0" dirty="0" err="1">
                <a:solidFill>
                  <a:srgbClr val="12213F"/>
                </a:solidFill>
                <a:latin typeface="Aptos"/>
              </a:rPr>
              <a:t>equidad</a:t>
            </a:r>
            <a:r>
              <a:rPr sz="1600" b="0" dirty="0">
                <a:solidFill>
                  <a:srgbClr val="12213F"/>
                </a:solidFill>
                <a:latin typeface="Aptos"/>
              </a:rPr>
              <a:t>
• </a:t>
            </a:r>
            <a:r>
              <a:rPr sz="1600" b="0" dirty="0" err="1">
                <a:solidFill>
                  <a:srgbClr val="12213F"/>
                </a:solidFill>
                <a:latin typeface="Aptos"/>
              </a:rPr>
              <a:t>cierre</a:t>
            </a:r>
            <a:r>
              <a:rPr sz="1600" b="0" dirty="0">
                <a:solidFill>
                  <a:srgbClr val="12213F"/>
                </a:solidFill>
                <a:latin typeface="Aptos"/>
              </a:rPr>
              <a:t> y </a:t>
            </a:r>
            <a:r>
              <a:rPr sz="1600" b="0" dirty="0" err="1">
                <a:solidFill>
                  <a:srgbClr val="12213F"/>
                </a:solidFill>
                <a:latin typeface="Aptos"/>
              </a:rPr>
              <a:t>confirmación</a:t>
            </a:r>
            <a:endParaRPr sz="1600" b="0" dirty="0">
              <a:solidFill>
                <a:srgbClr val="12213F"/>
              </a:solidFill>
              <a:latin typeface="Aptos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6839131" y="2202930"/>
            <a:ext cx="1965960" cy="1510308"/>
          </a:xfrm>
          <a:prstGeom prst="roundRect">
            <a:avLst/>
          </a:prstGeom>
          <a:solidFill>
            <a:srgbClr val="ECF9FC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6967147" y="2533662"/>
            <a:ext cx="256032" cy="256032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14619" y="2533662"/>
            <a:ext cx="1325880" cy="2560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700" b="1" dirty="0">
                <a:solidFill>
                  <a:srgbClr val="04124C"/>
                </a:solidFill>
                <a:latin typeface="Aptos"/>
              </a:rPr>
              <a:t>Dashboard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03723" y="2959245"/>
            <a:ext cx="1636776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dirty="0" err="1">
                <a:solidFill>
                  <a:srgbClr val="12213F"/>
                </a:solidFill>
                <a:latin typeface="Aptos"/>
              </a:rPr>
              <a:t>alertas</a:t>
            </a:r>
            <a:r>
              <a:rPr sz="1400" b="0" dirty="0">
                <a:solidFill>
                  <a:srgbClr val="12213F"/>
                </a:solidFill>
                <a:latin typeface="Aptos"/>
              </a:rPr>
              <a:t> y </a:t>
            </a:r>
            <a:r>
              <a:rPr sz="1400" b="0" dirty="0" err="1">
                <a:solidFill>
                  <a:srgbClr val="12213F"/>
                </a:solidFill>
                <a:latin typeface="Aptos"/>
              </a:rPr>
              <a:t>estado</a:t>
            </a:r>
            <a:endParaRPr sz="1400" b="0" dirty="0">
              <a:solidFill>
                <a:srgbClr val="12213F"/>
              </a:solidFill>
              <a:latin typeface="Aptos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9033691" y="2162629"/>
            <a:ext cx="1965960" cy="1550609"/>
          </a:xfrm>
          <a:prstGeom prst="roundRect">
            <a:avLst/>
          </a:prstGeom>
          <a:solidFill>
            <a:srgbClr val="F5F2FF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9161707" y="2533662"/>
            <a:ext cx="256032" cy="256032"/>
          </a:xfrm>
          <a:prstGeom prst="roundRect">
            <a:avLst/>
          </a:prstGeom>
          <a:solidFill>
            <a:srgbClr val="7C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509179" y="2535113"/>
            <a:ext cx="1325880" cy="2560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700" b="1" dirty="0">
                <a:solidFill>
                  <a:srgbClr val="04124C"/>
                </a:solidFill>
                <a:latin typeface="Aptos"/>
              </a:rPr>
              <a:t>Directorio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98283" y="2985250"/>
            <a:ext cx="1636776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dirty="0" err="1">
                <a:solidFill>
                  <a:srgbClr val="12213F"/>
                </a:solidFill>
                <a:latin typeface="Aptos"/>
              </a:rPr>
              <a:t>perfiles</a:t>
            </a:r>
            <a:r>
              <a:rPr sz="1400" b="0" dirty="0">
                <a:solidFill>
                  <a:srgbClr val="12213F"/>
                </a:solidFill>
                <a:latin typeface="Aptos"/>
              </a:rPr>
              <a:t> e </a:t>
            </a:r>
            <a:r>
              <a:rPr sz="1400" b="0" dirty="0" err="1">
                <a:solidFill>
                  <a:srgbClr val="12213F"/>
                </a:solidFill>
                <a:latin typeface="Aptos"/>
              </a:rPr>
              <a:t>historial</a:t>
            </a:r>
            <a:endParaRPr sz="1400" b="0" dirty="0">
              <a:solidFill>
                <a:srgbClr val="12213F"/>
              </a:solidFill>
              <a:latin typeface="Aptos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6839131" y="3896118"/>
            <a:ext cx="4160520" cy="1554480"/>
          </a:xfrm>
          <a:prstGeom prst="roundRect">
            <a:avLst/>
          </a:prstGeom>
          <a:solidFill>
            <a:srgbClr val="ECFBF6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967147" y="4042422"/>
            <a:ext cx="256032" cy="256032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314619" y="4042422"/>
            <a:ext cx="3520440" cy="2560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800" b="1" dirty="0" err="1">
                <a:solidFill>
                  <a:srgbClr val="04124C"/>
                </a:solidFill>
                <a:latin typeface="Aptos"/>
              </a:rPr>
              <a:t>Configuración</a:t>
            </a:r>
            <a:r>
              <a:rPr sz="1800" b="1" dirty="0">
                <a:solidFill>
                  <a:srgbClr val="04124C"/>
                </a:solidFill>
                <a:latin typeface="Aptos"/>
              </a:rPr>
              <a:t> / </a:t>
            </a:r>
            <a:r>
              <a:rPr sz="1800" b="1" dirty="0" err="1">
                <a:solidFill>
                  <a:srgbClr val="04124C"/>
                </a:solidFill>
                <a:latin typeface="Aptos"/>
              </a:rPr>
              <a:t>Nómina</a:t>
            </a:r>
            <a:endParaRPr sz="1800" b="1" dirty="0">
              <a:solidFill>
                <a:srgbClr val="04124C"/>
              </a:solidFill>
              <a:latin typeface="Apto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003723" y="4586490"/>
            <a:ext cx="3831336" cy="9601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0" dirty="0" err="1">
                <a:solidFill>
                  <a:srgbClr val="12213F"/>
                </a:solidFill>
                <a:latin typeface="Aptos"/>
              </a:rPr>
              <a:t>parámetros</a:t>
            </a:r>
            <a:r>
              <a:rPr sz="1500" b="0" dirty="0">
                <a:solidFill>
                  <a:srgbClr val="12213F"/>
                </a:solidFill>
                <a:latin typeface="Aptos"/>
              </a:rPr>
              <a:t>, </a:t>
            </a:r>
            <a:r>
              <a:rPr sz="1500" b="0" dirty="0" err="1">
                <a:solidFill>
                  <a:srgbClr val="12213F"/>
                </a:solidFill>
                <a:latin typeface="Aptos"/>
              </a:rPr>
              <a:t>exportación</a:t>
            </a:r>
            <a:r>
              <a:rPr sz="1500" b="0" dirty="0">
                <a:solidFill>
                  <a:srgbClr val="12213F"/>
                </a:solidFill>
                <a:latin typeface="Aptos"/>
              </a:rPr>
              <a:t> y </a:t>
            </a:r>
            <a:r>
              <a:rPr sz="1500" b="0" dirty="0" err="1">
                <a:solidFill>
                  <a:srgbClr val="12213F"/>
                </a:solidFill>
                <a:latin typeface="Aptos"/>
              </a:rPr>
              <a:t>ajustes</a:t>
            </a:r>
            <a:endParaRPr sz="1500" b="0" dirty="0">
              <a:solidFill>
                <a:srgbClr val="12213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267712" cy="6858000"/>
          </a:xfrm>
          <a:prstGeom prst="rect">
            <a:avLst/>
          </a:prstGeom>
          <a:solidFill>
            <a:srgbClr val="041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01168" y="164592"/>
            <a:ext cx="256032" cy="283463"/>
          </a:xfrm>
          <a:prstGeom prst="roundRect">
            <a:avLst/>
          </a:prstGeom>
          <a:solidFill>
            <a:srgbClr val="58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46888" y="214884"/>
            <a:ext cx="164592" cy="1371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500" b="1">
                <a:solidFill>
                  <a:srgbClr val="04124C"/>
                </a:solidFill>
                <a:latin typeface="Aptos"/>
              </a:rPr>
              <a:t>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6304"/>
            <a:ext cx="1417320" cy="2011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KONOR.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84048"/>
            <a:ext cx="1417320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50" b="1">
                <a:solidFill>
                  <a:srgbClr val="58C4DA"/>
                </a:solidFill>
                <a:latin typeface="Aptos"/>
              </a:rPr>
              <a:t>GESTIÓN AYUDANTES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" y="932688"/>
            <a:ext cx="1783080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850" b="1">
                <a:solidFill>
                  <a:srgbClr val="AABDD6"/>
                </a:solidFill>
                <a:latin typeface="Aptos"/>
              </a:rPr>
              <a:t>SECCIÓN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" y="1115568"/>
            <a:ext cx="1783080" cy="2926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Aptos"/>
              </a:rPr>
              <a:t>Arquitectura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" y="1773936"/>
            <a:ext cx="141732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00" b="0">
                <a:solidFill>
                  <a:srgbClr val="E0E9F6"/>
                </a:solidFill>
                <a:latin typeface="Aptos"/>
              </a:rPr>
              <a:t>Contexto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" y="2286000"/>
            <a:ext cx="141732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00" b="0">
                <a:solidFill>
                  <a:srgbClr val="E0E9F6"/>
                </a:solidFill>
                <a:latin typeface="Aptos"/>
              </a:rPr>
              <a:t>Problema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4" y="2700383"/>
            <a:ext cx="1810512" cy="411480"/>
          </a:xfrm>
          <a:prstGeom prst="roundRect">
            <a:avLst/>
          </a:prstGeom>
          <a:solidFill>
            <a:srgbClr val="47B0C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0896" y="2798064"/>
            <a:ext cx="141732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50" b="1">
                <a:solidFill>
                  <a:srgbClr val="04124C"/>
                </a:solidFill>
                <a:latin typeface="Aptos"/>
              </a:rPr>
              <a:t>Arquitectura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" y="3310128"/>
            <a:ext cx="141732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00" b="0">
                <a:solidFill>
                  <a:srgbClr val="E0E9F6"/>
                </a:solidFill>
                <a:latin typeface="Aptos"/>
              </a:rPr>
              <a:t>TRL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" y="3822191"/>
            <a:ext cx="141732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00" b="0">
                <a:solidFill>
                  <a:srgbClr val="E0E9F6"/>
                </a:solidFill>
                <a:latin typeface="Aptos"/>
              </a:rPr>
              <a:t>Metodología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" y="6355080"/>
            <a:ext cx="1280160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"/>
              </a:rPr>
              <a:t>Cerrar sesión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42032" y="868925"/>
            <a:ext cx="9052560" cy="410369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lang="es-CL" sz="2500" b="1" dirty="0">
                <a:solidFill>
                  <a:srgbClr val="04124C"/>
                </a:solidFill>
                <a:latin typeface="Aptos"/>
              </a:rPr>
              <a:t>Capa de l</a:t>
            </a:r>
            <a:r>
              <a:rPr sz="2500" b="1" dirty="0" err="1">
                <a:solidFill>
                  <a:srgbClr val="04124C"/>
                </a:solidFill>
                <a:latin typeface="Aptos"/>
              </a:rPr>
              <a:t>ógica</a:t>
            </a:r>
            <a:r>
              <a:rPr sz="2500" b="1" dirty="0">
                <a:solidFill>
                  <a:srgbClr val="04124C"/>
                </a:solidFill>
                <a:latin typeface="Aptos"/>
              </a:rPr>
              <a:t> de </a:t>
            </a:r>
            <a:r>
              <a:rPr sz="2500" b="1" dirty="0" err="1">
                <a:solidFill>
                  <a:srgbClr val="04124C"/>
                </a:solidFill>
                <a:latin typeface="Aptos"/>
              </a:rPr>
              <a:t>negocio</a:t>
            </a:r>
            <a:r>
              <a:rPr sz="2500" b="1" dirty="0">
                <a:solidFill>
                  <a:srgbClr val="04124C"/>
                </a:solidFill>
                <a:latin typeface="Aptos"/>
              </a:rPr>
              <a:t> / API</a:t>
            </a:r>
            <a:r>
              <a:rPr lang="es-CL" sz="2500" b="1" dirty="0">
                <a:solidFill>
                  <a:srgbClr val="04124C"/>
                </a:solidFill>
                <a:latin typeface="Aptos"/>
              </a:rPr>
              <a:t> – Capa 2</a:t>
            </a:r>
            <a:endParaRPr sz="2500" b="1" dirty="0">
              <a:solidFill>
                <a:srgbClr val="04124C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2573737" y="1435608"/>
            <a:ext cx="1874519" cy="310896"/>
          </a:xfrm>
          <a:prstGeom prst="roundRect">
            <a:avLst/>
          </a:prstGeom>
          <a:solidFill>
            <a:srgbClr val="EC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601169" y="1481328"/>
            <a:ext cx="1819655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14B8A6"/>
                </a:solidFill>
                <a:latin typeface="Aptos"/>
              </a:rPr>
              <a:t>Supabase Auth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85417" y="1435608"/>
            <a:ext cx="2240280" cy="310896"/>
          </a:xfrm>
          <a:prstGeom prst="roundRect">
            <a:avLst/>
          </a:prstGeom>
          <a:solidFill>
            <a:srgbClr val="EC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12849" y="1481328"/>
            <a:ext cx="2185416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14B8A6"/>
                </a:solidFill>
                <a:latin typeface="Aptos"/>
              </a:rPr>
              <a:t>@supabase/supabase-js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62857" y="1435608"/>
            <a:ext cx="1508760" cy="310896"/>
          </a:xfrm>
          <a:prstGeom prst="roundRect">
            <a:avLst/>
          </a:prstGeom>
          <a:solidFill>
            <a:srgbClr val="EC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90289" y="1481328"/>
            <a:ext cx="1453896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14B8A6"/>
                </a:solidFill>
                <a:latin typeface="Aptos"/>
              </a:rPr>
              <a:t>API REST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01269" y="2468880"/>
            <a:ext cx="3566160" cy="3111562"/>
          </a:xfrm>
          <a:prstGeom prst="roundRect">
            <a:avLst/>
          </a:prstGeom>
          <a:solidFill>
            <a:srgbClr val="FFF8DC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3529285" y="2846386"/>
            <a:ext cx="256032" cy="256032"/>
          </a:xfrm>
          <a:prstGeom prst="roundRect">
            <a:avLst/>
          </a:prstGeom>
          <a:solidFill>
            <a:srgbClr val="FF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876757" y="2855831"/>
            <a:ext cx="2926080" cy="2560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100" b="1" dirty="0">
                <a:solidFill>
                  <a:srgbClr val="04124C"/>
                </a:solidFill>
                <a:latin typeface="Aptos"/>
              </a:rPr>
              <a:t>Pre-</a:t>
            </a:r>
            <a:r>
              <a:rPr sz="2100" b="1" dirty="0" err="1">
                <a:solidFill>
                  <a:srgbClr val="04124C"/>
                </a:solidFill>
                <a:latin typeface="Aptos"/>
              </a:rPr>
              <a:t>turno</a:t>
            </a:r>
            <a:endParaRPr sz="2100" b="1" dirty="0">
              <a:solidFill>
                <a:srgbClr val="04124C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565861" y="3301937"/>
            <a:ext cx="3236976" cy="2286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0" dirty="0">
                <a:solidFill>
                  <a:srgbClr val="12213F"/>
                </a:solidFill>
                <a:latin typeface="Aptos"/>
              </a:rPr>
              <a:t>• </a:t>
            </a:r>
            <a:r>
              <a:rPr sz="1600" b="0" dirty="0" err="1">
                <a:solidFill>
                  <a:srgbClr val="12213F"/>
                </a:solidFill>
                <a:latin typeface="Aptos"/>
              </a:rPr>
              <a:t>máximo</a:t>
            </a:r>
            <a:r>
              <a:rPr sz="1600" b="0" dirty="0">
                <a:solidFill>
                  <a:srgbClr val="12213F"/>
                </a:solidFill>
                <a:latin typeface="Aptos"/>
              </a:rPr>
              <a:t> 60 horas
• </a:t>
            </a:r>
            <a:r>
              <a:rPr sz="1600" b="0" dirty="0" err="1">
                <a:solidFill>
                  <a:srgbClr val="12213F"/>
                </a:solidFill>
                <a:latin typeface="Aptos"/>
              </a:rPr>
              <a:t>evita</a:t>
            </a:r>
            <a:r>
              <a:rPr sz="1600" b="0" dirty="0">
                <a:solidFill>
                  <a:srgbClr val="12213F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12213F"/>
                </a:solidFill>
                <a:latin typeface="Aptos"/>
              </a:rPr>
              <a:t>choques</a:t>
            </a:r>
            <a:r>
              <a:rPr sz="1600" b="0" dirty="0">
                <a:solidFill>
                  <a:srgbClr val="12213F"/>
                </a:solidFill>
                <a:latin typeface="Aptos"/>
              </a:rPr>
              <a:t>
• </a:t>
            </a:r>
            <a:r>
              <a:rPr sz="1600" b="0" dirty="0" err="1">
                <a:solidFill>
                  <a:srgbClr val="12213F"/>
                </a:solidFill>
                <a:latin typeface="Aptos"/>
              </a:rPr>
              <a:t>ordena</a:t>
            </a:r>
            <a:r>
              <a:rPr sz="1600" b="0" dirty="0">
                <a:solidFill>
                  <a:srgbClr val="12213F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12213F"/>
                </a:solidFill>
                <a:latin typeface="Aptos"/>
              </a:rPr>
              <a:t>por</a:t>
            </a:r>
            <a:r>
              <a:rPr sz="1600" b="0" dirty="0">
                <a:solidFill>
                  <a:srgbClr val="12213F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12213F"/>
                </a:solidFill>
                <a:latin typeface="Aptos"/>
              </a:rPr>
              <a:t>menor</a:t>
            </a:r>
            <a:r>
              <a:rPr sz="1600" b="0" dirty="0">
                <a:solidFill>
                  <a:srgbClr val="12213F"/>
                </a:solidFill>
                <a:latin typeface="Aptos"/>
              </a:rPr>
              <a:t> carga
• </a:t>
            </a:r>
            <a:r>
              <a:rPr sz="1600" b="0" dirty="0" err="1">
                <a:solidFill>
                  <a:srgbClr val="12213F"/>
                </a:solidFill>
                <a:latin typeface="Aptos"/>
              </a:rPr>
              <a:t>convierte</a:t>
            </a:r>
            <a:r>
              <a:rPr sz="1600" b="0" dirty="0">
                <a:solidFill>
                  <a:srgbClr val="12213F"/>
                </a:solidFill>
                <a:latin typeface="Aptos"/>
              </a:rPr>
              <a:t> HH:MM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41749" y="2468880"/>
            <a:ext cx="3566160" cy="3111562"/>
          </a:xfrm>
          <a:prstGeom prst="roundRect">
            <a:avLst/>
          </a:prstGeom>
          <a:solidFill>
            <a:srgbClr val="F5F2FF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7369765" y="2846386"/>
            <a:ext cx="256032" cy="256032"/>
          </a:xfrm>
          <a:prstGeom prst="roundRect">
            <a:avLst/>
          </a:prstGeom>
          <a:solidFill>
            <a:srgbClr val="7C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717237" y="2852928"/>
            <a:ext cx="2926080" cy="2560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100" b="1" dirty="0">
                <a:solidFill>
                  <a:srgbClr val="04124C"/>
                </a:solidFill>
                <a:latin typeface="Aptos"/>
              </a:rPr>
              <a:t>Post-</a:t>
            </a:r>
            <a:r>
              <a:rPr sz="2100" b="1" dirty="0" err="1">
                <a:solidFill>
                  <a:srgbClr val="04124C"/>
                </a:solidFill>
                <a:latin typeface="Aptos"/>
              </a:rPr>
              <a:t>turno</a:t>
            </a:r>
            <a:endParaRPr sz="2100" b="1" dirty="0">
              <a:solidFill>
                <a:srgbClr val="04124C"/>
              </a:solidFill>
              <a:latin typeface="Apto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406341" y="3301937"/>
            <a:ext cx="3236976" cy="2286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0" dirty="0">
                <a:solidFill>
                  <a:srgbClr val="12213F"/>
                </a:solidFill>
                <a:latin typeface="Aptos"/>
              </a:rPr>
              <a:t>• </a:t>
            </a:r>
            <a:r>
              <a:rPr sz="1600" b="0" dirty="0" err="1">
                <a:solidFill>
                  <a:srgbClr val="12213F"/>
                </a:solidFill>
                <a:latin typeface="Aptos"/>
              </a:rPr>
              <a:t>sella</a:t>
            </a:r>
            <a:r>
              <a:rPr sz="1600" b="0" dirty="0">
                <a:solidFill>
                  <a:srgbClr val="12213F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12213F"/>
                </a:solidFill>
                <a:latin typeface="Aptos"/>
              </a:rPr>
              <a:t>asistencia</a:t>
            </a:r>
            <a:r>
              <a:rPr sz="1600" b="0" dirty="0">
                <a:solidFill>
                  <a:srgbClr val="12213F"/>
                </a:solidFill>
                <a:latin typeface="Aptos"/>
              </a:rPr>
              <a:t>
• </a:t>
            </a:r>
            <a:r>
              <a:rPr sz="1600" b="0" dirty="0" err="1">
                <a:solidFill>
                  <a:srgbClr val="12213F"/>
                </a:solidFill>
                <a:latin typeface="Aptos"/>
              </a:rPr>
              <a:t>bloquea</a:t>
            </a:r>
            <a:r>
              <a:rPr sz="1600" b="0" dirty="0">
                <a:solidFill>
                  <a:srgbClr val="12213F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12213F"/>
                </a:solidFill>
                <a:latin typeface="Aptos"/>
              </a:rPr>
              <a:t>edición</a:t>
            </a:r>
            <a:r>
              <a:rPr sz="1600" b="0" dirty="0">
                <a:solidFill>
                  <a:srgbClr val="12213F"/>
                </a:solidFill>
                <a:latin typeface="Aptos"/>
              </a:rPr>
              <a:t>
• </a:t>
            </a:r>
            <a:r>
              <a:rPr sz="1600" b="0" dirty="0" err="1">
                <a:solidFill>
                  <a:srgbClr val="12213F"/>
                </a:solidFill>
                <a:latin typeface="Aptos"/>
              </a:rPr>
              <a:t>calcula</a:t>
            </a:r>
            <a:r>
              <a:rPr sz="1600" b="0" dirty="0">
                <a:solidFill>
                  <a:srgbClr val="12213F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12213F"/>
                </a:solidFill>
                <a:latin typeface="Aptos"/>
              </a:rPr>
              <a:t>bruto</a:t>
            </a:r>
            <a:r>
              <a:rPr sz="1600" b="0" dirty="0">
                <a:solidFill>
                  <a:srgbClr val="12213F"/>
                </a:solidFill>
                <a:latin typeface="Aptos"/>
              </a:rPr>
              <a:t> y </a:t>
            </a:r>
            <a:r>
              <a:rPr sz="1600" b="0" dirty="0" err="1">
                <a:solidFill>
                  <a:srgbClr val="12213F"/>
                </a:solidFill>
                <a:latin typeface="Aptos"/>
              </a:rPr>
              <a:t>retención</a:t>
            </a:r>
            <a:r>
              <a:rPr sz="1600" b="0" dirty="0">
                <a:solidFill>
                  <a:srgbClr val="12213F"/>
                </a:solidFill>
                <a:latin typeface="Aptos"/>
              </a:rPr>
              <a:t>
• </a:t>
            </a:r>
            <a:r>
              <a:rPr sz="1600" b="0" dirty="0" err="1">
                <a:solidFill>
                  <a:srgbClr val="12213F"/>
                </a:solidFill>
                <a:latin typeface="Aptos"/>
              </a:rPr>
              <a:t>obtiene</a:t>
            </a:r>
            <a:r>
              <a:rPr sz="1600" b="0" dirty="0">
                <a:solidFill>
                  <a:srgbClr val="12213F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12213F"/>
                </a:solidFill>
                <a:latin typeface="Aptos"/>
              </a:rPr>
              <a:t>monto</a:t>
            </a:r>
            <a:r>
              <a:rPr sz="1600" b="0" dirty="0">
                <a:solidFill>
                  <a:srgbClr val="12213F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12213F"/>
                </a:solidFill>
                <a:latin typeface="Aptos"/>
              </a:rPr>
              <a:t>líquido</a:t>
            </a:r>
            <a:endParaRPr sz="1600" b="0" dirty="0">
              <a:solidFill>
                <a:srgbClr val="12213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267712" cy="6858000"/>
          </a:xfrm>
          <a:prstGeom prst="rect">
            <a:avLst/>
          </a:prstGeom>
          <a:solidFill>
            <a:srgbClr val="041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01168" y="164592"/>
            <a:ext cx="256032" cy="292608"/>
          </a:xfrm>
          <a:prstGeom prst="roundRect">
            <a:avLst/>
          </a:prstGeom>
          <a:solidFill>
            <a:srgbClr val="58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46888" y="214884"/>
            <a:ext cx="164592" cy="1371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500" b="1">
                <a:solidFill>
                  <a:srgbClr val="04124C"/>
                </a:solidFill>
                <a:latin typeface="Aptos"/>
              </a:rPr>
              <a:t>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6304"/>
            <a:ext cx="1417320" cy="2011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KONOR.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84048"/>
            <a:ext cx="1417320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50" b="1">
                <a:solidFill>
                  <a:srgbClr val="58C4DA"/>
                </a:solidFill>
                <a:latin typeface="Aptos"/>
              </a:rPr>
              <a:t>GESTIÓN AYUDANTES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" y="932688"/>
            <a:ext cx="1783080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850" b="1">
                <a:solidFill>
                  <a:srgbClr val="AABDD6"/>
                </a:solidFill>
                <a:latin typeface="Aptos"/>
              </a:rPr>
              <a:t>SECCIÓN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" y="1115568"/>
            <a:ext cx="1783080" cy="2926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Aptos"/>
              </a:rPr>
              <a:t>Arquitectura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" y="1773936"/>
            <a:ext cx="141732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00" b="0">
                <a:solidFill>
                  <a:srgbClr val="E0E9F6"/>
                </a:solidFill>
                <a:latin typeface="Aptos"/>
              </a:rPr>
              <a:t>Contexto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" y="2286000"/>
            <a:ext cx="141732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00" b="0">
                <a:solidFill>
                  <a:srgbClr val="E0E9F6"/>
                </a:solidFill>
                <a:latin typeface="Aptos"/>
              </a:rPr>
              <a:t>Problema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683764"/>
            <a:ext cx="1810512" cy="411480"/>
          </a:xfrm>
          <a:prstGeom prst="roundRect">
            <a:avLst/>
          </a:prstGeom>
          <a:solidFill>
            <a:srgbClr val="47B0C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310896" y="2798064"/>
            <a:ext cx="141732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50" b="1">
                <a:solidFill>
                  <a:srgbClr val="04124C"/>
                </a:solidFill>
                <a:latin typeface="Aptos"/>
              </a:rPr>
              <a:t>Arquitectura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" y="3310128"/>
            <a:ext cx="141732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00" b="0">
                <a:solidFill>
                  <a:srgbClr val="E0E9F6"/>
                </a:solidFill>
                <a:latin typeface="Aptos"/>
              </a:rPr>
              <a:t>TRL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" y="3822191"/>
            <a:ext cx="141732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00" b="0">
                <a:solidFill>
                  <a:srgbClr val="E0E9F6"/>
                </a:solidFill>
                <a:latin typeface="Aptos"/>
              </a:rPr>
              <a:t>Metodología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" y="6355080"/>
            <a:ext cx="1280160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"/>
              </a:rPr>
              <a:t>Cerrar sesión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814927"/>
            <a:ext cx="9052560" cy="410369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lang="es-CL" sz="2500" b="1" dirty="0">
                <a:solidFill>
                  <a:srgbClr val="04124C"/>
                </a:solidFill>
                <a:latin typeface="Aptos"/>
              </a:rPr>
              <a:t>Capa de </a:t>
            </a:r>
            <a:r>
              <a:rPr sz="2500" b="1" dirty="0" err="1">
                <a:solidFill>
                  <a:srgbClr val="04124C"/>
                </a:solidFill>
                <a:latin typeface="Aptos"/>
              </a:rPr>
              <a:t>Persistencia</a:t>
            </a:r>
            <a:r>
              <a:rPr sz="2500" b="1" dirty="0">
                <a:solidFill>
                  <a:srgbClr val="04124C"/>
                </a:solidFill>
                <a:latin typeface="Aptos"/>
              </a:rPr>
              <a:t> / Base de </a:t>
            </a:r>
            <a:r>
              <a:rPr sz="2500" b="1" dirty="0" err="1">
                <a:solidFill>
                  <a:srgbClr val="04124C"/>
                </a:solidFill>
                <a:latin typeface="Aptos"/>
              </a:rPr>
              <a:t>datos</a:t>
            </a:r>
            <a:r>
              <a:rPr lang="es-CL" sz="2500" b="1" dirty="0">
                <a:solidFill>
                  <a:srgbClr val="04124C"/>
                </a:solidFill>
                <a:latin typeface="Aptos"/>
              </a:rPr>
              <a:t> – Capa 3</a:t>
            </a:r>
            <a:endParaRPr sz="2500" b="1" dirty="0">
              <a:solidFill>
                <a:srgbClr val="04124C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2624328" y="1412748"/>
            <a:ext cx="1463040" cy="310896"/>
          </a:xfrm>
          <a:prstGeom prst="roundRect">
            <a:avLst/>
          </a:prstGeom>
          <a:solidFill>
            <a:srgbClr val="EC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651760" y="1458468"/>
            <a:ext cx="1408176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10A37F"/>
                </a:solidFill>
                <a:latin typeface="Aptos"/>
              </a:rPr>
              <a:t>IDs internos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51960" y="1412748"/>
            <a:ext cx="1508760" cy="310896"/>
          </a:xfrm>
          <a:prstGeom prst="roundRect">
            <a:avLst/>
          </a:prstGeom>
          <a:solidFill>
            <a:srgbClr val="EC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79392" y="1458468"/>
            <a:ext cx="1453896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10A37F"/>
                </a:solidFill>
                <a:latin typeface="Aptos"/>
              </a:rPr>
              <a:t>FOREIGN KEY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16168" y="1412748"/>
            <a:ext cx="960120" cy="310896"/>
          </a:xfrm>
          <a:prstGeom prst="roundRect">
            <a:avLst/>
          </a:prstGeom>
          <a:solidFill>
            <a:srgbClr val="EC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0" y="1458468"/>
            <a:ext cx="905256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10A37F"/>
                </a:solidFill>
                <a:latin typeface="Aptos"/>
              </a:rPr>
              <a:t>UNIQUE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31736" y="1412748"/>
            <a:ext cx="1371600" cy="310896"/>
          </a:xfrm>
          <a:prstGeom prst="roundRect">
            <a:avLst/>
          </a:prstGeom>
          <a:solidFill>
            <a:srgbClr val="EC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059168" y="1458468"/>
            <a:ext cx="1316736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10A37F"/>
                </a:solidFill>
                <a:latin typeface="Aptos"/>
              </a:rPr>
              <a:t>Auditoría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02152" y="2788920"/>
            <a:ext cx="1554480" cy="1691640"/>
          </a:xfrm>
          <a:prstGeom prst="rect">
            <a:avLst/>
          </a:prstGeom>
          <a:solidFill>
            <a:srgbClr val="EEF6FF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502152" y="2606040"/>
            <a:ext cx="1554480" cy="384048"/>
          </a:xfrm>
          <a:prstGeom prst="ellipse">
            <a:avLst/>
          </a:prstGeom>
          <a:solidFill>
            <a:srgbClr val="EEF6FF"/>
          </a:solidFill>
          <a:ln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575304" y="3026664"/>
            <a:ext cx="1408176" cy="2194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550" b="1">
                <a:solidFill>
                  <a:srgbClr val="04124C"/>
                </a:solidFill>
                <a:latin typeface="Aptos"/>
              </a:rPr>
              <a:t>alumno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75304" y="3465576"/>
            <a:ext cx="1408176" cy="47548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150" b="0">
                <a:solidFill>
                  <a:srgbClr val="12213F"/>
                </a:solidFill>
                <a:latin typeface="Aptos"/>
              </a:rPr>
              <a:t>perfil · horas · estado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22392" y="2788920"/>
            <a:ext cx="1554480" cy="1691640"/>
          </a:xfrm>
          <a:prstGeom prst="rect">
            <a:avLst/>
          </a:prstGeom>
          <a:solidFill>
            <a:srgbClr val="ECF9FC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5422392" y="2606040"/>
            <a:ext cx="1554480" cy="384048"/>
          </a:xfrm>
          <a:prstGeom prst="ellipse">
            <a:avLst/>
          </a:prstGeom>
          <a:solidFill>
            <a:srgbClr val="ECF9FC"/>
          </a:solidFill>
          <a:ln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95544" y="3026664"/>
            <a:ext cx="1408176" cy="2194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550" b="1">
                <a:solidFill>
                  <a:srgbClr val="04124C"/>
                </a:solidFill>
                <a:latin typeface="Aptos"/>
              </a:rPr>
              <a:t>turno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95544" y="3465576"/>
            <a:ext cx="1408176" cy="47548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150" b="0">
                <a:solidFill>
                  <a:srgbClr val="12213F"/>
                </a:solidFill>
                <a:latin typeface="Aptos"/>
              </a:rPr>
              <a:t>fecha · cupos · estado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42632" y="2788920"/>
            <a:ext cx="1554480" cy="1691640"/>
          </a:xfrm>
          <a:prstGeom prst="rect">
            <a:avLst/>
          </a:prstGeom>
          <a:solidFill>
            <a:srgbClr val="F5F2FF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7342632" y="2606040"/>
            <a:ext cx="1554480" cy="384048"/>
          </a:xfrm>
          <a:prstGeom prst="ellipse">
            <a:avLst/>
          </a:prstGeom>
          <a:solidFill>
            <a:srgbClr val="F5F2FF"/>
          </a:solidFill>
          <a:ln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415784" y="3026664"/>
            <a:ext cx="1408176" cy="2194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550" b="1">
                <a:solidFill>
                  <a:srgbClr val="04124C"/>
                </a:solidFill>
                <a:latin typeface="Aptos"/>
              </a:rPr>
              <a:t>asignación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15784" y="3465576"/>
            <a:ext cx="1408176" cy="47548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150" b="0">
                <a:solidFill>
                  <a:srgbClr val="12213F"/>
                </a:solidFill>
                <a:latin typeface="Aptos"/>
              </a:rPr>
              <a:t>asignado · espera · baja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62872" y="2788920"/>
            <a:ext cx="1554480" cy="1691640"/>
          </a:xfrm>
          <a:prstGeom prst="rect">
            <a:avLst/>
          </a:prstGeom>
          <a:solidFill>
            <a:srgbClr val="ECFBF6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9262872" y="2606040"/>
            <a:ext cx="1554480" cy="384048"/>
          </a:xfrm>
          <a:prstGeom prst="ellipse">
            <a:avLst/>
          </a:prstGeom>
          <a:solidFill>
            <a:srgbClr val="ECFBF6"/>
          </a:solidFill>
          <a:ln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336024" y="3026664"/>
            <a:ext cx="1408176" cy="2194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550" b="1">
                <a:solidFill>
                  <a:srgbClr val="04124C"/>
                </a:solidFill>
                <a:latin typeface="Aptos"/>
              </a:rPr>
              <a:t>ledger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36024" y="3465576"/>
            <a:ext cx="1408176" cy="47548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150" b="0">
                <a:solidFill>
                  <a:srgbClr val="12213F"/>
                </a:solidFill>
                <a:latin typeface="Aptos"/>
              </a:rPr>
              <a:t>ajustes justificados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529584" y="5029200"/>
            <a:ext cx="7315200" cy="530352"/>
          </a:xfrm>
          <a:prstGeom prst="round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730752" y="5166360"/>
            <a:ext cx="6903720" cy="2011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450" b="1">
                <a:solidFill>
                  <a:srgbClr val="04124C"/>
                </a:solidFill>
                <a:latin typeface="Aptos"/>
              </a:rPr>
              <a:t>Objetivo: evitar duplicaciones, pérdida de historial y pagos inconsistentes.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267712" cy="6858000"/>
          </a:xfrm>
          <a:prstGeom prst="rect">
            <a:avLst/>
          </a:prstGeom>
          <a:solidFill>
            <a:srgbClr val="041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01168" y="164592"/>
            <a:ext cx="256032" cy="283463"/>
          </a:xfrm>
          <a:prstGeom prst="roundRect">
            <a:avLst/>
          </a:prstGeom>
          <a:solidFill>
            <a:srgbClr val="58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46888" y="214884"/>
            <a:ext cx="164592" cy="1371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500" b="1">
                <a:solidFill>
                  <a:srgbClr val="04124C"/>
                </a:solidFill>
                <a:latin typeface="Aptos"/>
              </a:rPr>
              <a:t>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6304"/>
            <a:ext cx="1417320" cy="2011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KONOR.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84048"/>
            <a:ext cx="1417320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50" b="1">
                <a:solidFill>
                  <a:srgbClr val="58C4DA"/>
                </a:solidFill>
                <a:latin typeface="Aptos"/>
              </a:rPr>
              <a:t>GESTIÓN AYUDANTES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" y="932688"/>
            <a:ext cx="1783080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850" b="1">
                <a:solidFill>
                  <a:srgbClr val="AABDD6"/>
                </a:solidFill>
                <a:latin typeface="Aptos"/>
              </a:rPr>
              <a:t>SECCIÓN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" y="1115568"/>
            <a:ext cx="1783080" cy="2926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Aptos"/>
              </a:rPr>
              <a:t>Madurez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" y="1773936"/>
            <a:ext cx="141732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00" b="0">
                <a:solidFill>
                  <a:srgbClr val="E0E9F6"/>
                </a:solidFill>
                <a:latin typeface="Aptos"/>
              </a:rPr>
              <a:t>Contexto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" y="2286000"/>
            <a:ext cx="141732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00" b="0">
                <a:solidFill>
                  <a:srgbClr val="E0E9F6"/>
                </a:solidFill>
                <a:latin typeface="Aptos"/>
              </a:rPr>
              <a:t>Problema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" y="2798064"/>
            <a:ext cx="141732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00" b="0">
                <a:solidFill>
                  <a:srgbClr val="E0E9F6"/>
                </a:solidFill>
                <a:latin typeface="Aptos"/>
              </a:rPr>
              <a:t>Arquitectura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" y="3255264"/>
            <a:ext cx="1810512" cy="411480"/>
          </a:xfrm>
          <a:prstGeom prst="roundRect">
            <a:avLst/>
          </a:prstGeom>
          <a:solidFill>
            <a:srgbClr val="47B0C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0896" y="3310128"/>
            <a:ext cx="141732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50" b="1">
                <a:solidFill>
                  <a:srgbClr val="04124C"/>
                </a:solidFill>
                <a:latin typeface="Aptos"/>
              </a:rPr>
              <a:t>TRL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" y="3822191"/>
            <a:ext cx="141732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00" b="0">
                <a:solidFill>
                  <a:srgbClr val="E0E9F6"/>
                </a:solidFill>
                <a:latin typeface="Aptos"/>
              </a:rPr>
              <a:t>Metodología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" y="6355080"/>
            <a:ext cx="1280160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"/>
              </a:rPr>
              <a:t>Cerrar sesión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38407" y="805646"/>
            <a:ext cx="905256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500" b="1" dirty="0">
                <a:solidFill>
                  <a:srgbClr val="04124C"/>
                </a:solidFill>
                <a:latin typeface="Aptos"/>
              </a:rPr>
              <a:t>Nivel de </a:t>
            </a:r>
            <a:r>
              <a:rPr sz="2500" b="1" dirty="0" err="1">
                <a:solidFill>
                  <a:srgbClr val="04124C"/>
                </a:solidFill>
                <a:latin typeface="Aptos"/>
              </a:rPr>
              <a:t>madurez</a:t>
            </a:r>
            <a:endParaRPr sz="2500" b="1" dirty="0">
              <a:solidFill>
                <a:srgbClr val="04124C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547871" y="2130552"/>
            <a:ext cx="530352" cy="530352"/>
          </a:xfrm>
          <a:prstGeom prst="roundRect">
            <a:avLst/>
          </a:prstGeom>
          <a:solidFill>
            <a:srgbClr val="ECFBF6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47871" y="2276856"/>
            <a:ext cx="530352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04124C"/>
                </a:solidFill>
                <a:latin typeface="Aptos"/>
              </a:rPr>
              <a:t>1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078223" y="2395728"/>
            <a:ext cx="256032" cy="0"/>
          </a:xfrm>
          <a:prstGeom prst="line">
            <a:avLst/>
          </a:prstGeom>
          <a:ln w="22860">
            <a:solidFill>
              <a:srgbClr val="D4D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334255" y="2130552"/>
            <a:ext cx="530352" cy="530352"/>
          </a:xfrm>
          <a:prstGeom prst="roundRect">
            <a:avLst/>
          </a:prstGeom>
          <a:solidFill>
            <a:srgbClr val="ECFBF6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34255" y="2276856"/>
            <a:ext cx="530352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04124C"/>
                </a:solidFill>
                <a:latin typeface="Aptos"/>
              </a:rPr>
              <a:t>2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864606" y="2395728"/>
            <a:ext cx="256033" cy="0"/>
          </a:xfrm>
          <a:prstGeom prst="line">
            <a:avLst/>
          </a:prstGeom>
          <a:ln w="22860">
            <a:solidFill>
              <a:srgbClr val="D4D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120639" y="2130552"/>
            <a:ext cx="530352" cy="530352"/>
          </a:xfrm>
          <a:prstGeom prst="roundRect">
            <a:avLst/>
          </a:prstGeom>
          <a:solidFill>
            <a:srgbClr val="ECFBF6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120639" y="2276856"/>
            <a:ext cx="530352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04124C"/>
                </a:solidFill>
                <a:latin typeface="Aptos"/>
              </a:rPr>
              <a:t>3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650991" y="2395728"/>
            <a:ext cx="256032" cy="0"/>
          </a:xfrm>
          <a:prstGeom prst="line">
            <a:avLst/>
          </a:prstGeom>
          <a:ln w="22860">
            <a:solidFill>
              <a:srgbClr val="D4D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907023" y="2130552"/>
            <a:ext cx="530352" cy="530352"/>
          </a:xfrm>
          <a:prstGeom prst="roundRect">
            <a:avLst/>
          </a:prstGeom>
          <a:solidFill>
            <a:srgbClr val="47B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907023" y="2276856"/>
            <a:ext cx="530352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437375" y="2395728"/>
            <a:ext cx="256032" cy="0"/>
          </a:xfrm>
          <a:prstGeom prst="line">
            <a:avLst/>
          </a:prstGeom>
          <a:ln w="22860">
            <a:solidFill>
              <a:srgbClr val="D4D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693407" y="2130552"/>
            <a:ext cx="530352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93407" y="2276856"/>
            <a:ext cx="530352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04124C"/>
                </a:solidFill>
                <a:latin typeface="Aptos"/>
              </a:rPr>
              <a:t>5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223759" y="2395728"/>
            <a:ext cx="256032" cy="0"/>
          </a:xfrm>
          <a:prstGeom prst="line">
            <a:avLst/>
          </a:prstGeom>
          <a:ln w="22860">
            <a:solidFill>
              <a:srgbClr val="D4D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7479791" y="2130552"/>
            <a:ext cx="530352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479791" y="2276856"/>
            <a:ext cx="530352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04124C"/>
                </a:solidFill>
                <a:latin typeface="Aptos"/>
              </a:rPr>
              <a:t>6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010143" y="2395728"/>
            <a:ext cx="256031" cy="0"/>
          </a:xfrm>
          <a:prstGeom prst="line">
            <a:avLst/>
          </a:prstGeom>
          <a:ln w="22860">
            <a:solidFill>
              <a:srgbClr val="D4D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8266174" y="2130552"/>
            <a:ext cx="530352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266174" y="2276856"/>
            <a:ext cx="530352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04124C"/>
                </a:solidFill>
                <a:latin typeface="Aptos"/>
              </a:rPr>
              <a:t>7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796527" y="2395728"/>
            <a:ext cx="256031" cy="0"/>
          </a:xfrm>
          <a:prstGeom prst="line">
            <a:avLst/>
          </a:prstGeom>
          <a:ln w="22860">
            <a:solidFill>
              <a:srgbClr val="D4D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9052558" y="2130552"/>
            <a:ext cx="530352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052558" y="2276856"/>
            <a:ext cx="530352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04124C"/>
                </a:solidFill>
                <a:latin typeface="Aptos"/>
              </a:rPr>
              <a:t>8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582910" y="2395728"/>
            <a:ext cx="256032" cy="0"/>
          </a:xfrm>
          <a:prstGeom prst="line">
            <a:avLst/>
          </a:prstGeom>
          <a:ln w="22860">
            <a:solidFill>
              <a:srgbClr val="D4D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9838943" y="2130552"/>
            <a:ext cx="530352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838943" y="2276856"/>
            <a:ext cx="530352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04124C"/>
                </a:solidFill>
                <a:latin typeface="Aptos"/>
              </a:rPr>
              <a:t>9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547871" y="3182112"/>
            <a:ext cx="3337560" cy="1737360"/>
          </a:xfrm>
          <a:prstGeom prst="roundRect">
            <a:avLst/>
          </a:prstGeom>
          <a:solidFill>
            <a:srgbClr val="FFF8DC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3675887" y="3328416"/>
            <a:ext cx="256032" cy="256032"/>
          </a:xfrm>
          <a:prstGeom prst="roundRect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023359" y="3273552"/>
            <a:ext cx="2697480" cy="2560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800" b="1">
                <a:solidFill>
                  <a:srgbClr val="04124C"/>
                </a:solidFill>
                <a:latin typeface="Aptos"/>
              </a:rPr>
              <a:t>Hoy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12463" y="3666744"/>
            <a:ext cx="3008376" cy="1143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0">
                <a:solidFill>
                  <a:srgbClr val="12213F"/>
                </a:solidFill>
                <a:latin typeface="Aptos"/>
              </a:rPr>
              <a:t>Prototipo + arquitectura + backlog + modelo de datos.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114031" y="3182112"/>
            <a:ext cx="3749039" cy="1737360"/>
          </a:xfrm>
          <a:prstGeom prst="roundRect">
            <a:avLst/>
          </a:prstGeom>
          <a:solidFill>
            <a:srgbClr val="ECFBF6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7242047" y="3328416"/>
            <a:ext cx="256032" cy="256032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589519" y="3273552"/>
            <a:ext cx="3108959" cy="2560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800" b="1">
                <a:solidFill>
                  <a:srgbClr val="04124C"/>
                </a:solidFill>
                <a:latin typeface="Aptos"/>
              </a:rPr>
              <a:t>Siguiente meta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78623" y="3666744"/>
            <a:ext cx="3419855" cy="1143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0">
                <a:solidFill>
                  <a:srgbClr val="12213F"/>
                </a:solidFill>
                <a:latin typeface="Aptos"/>
              </a:rPr>
              <a:t>Marcha Blanca con usuarios reales → TRL 7.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782311" y="5312664"/>
            <a:ext cx="4526280" cy="310896"/>
          </a:xfrm>
          <a:prstGeom prst="roundRect">
            <a:avLst/>
          </a:prstGeom>
          <a:solidFill>
            <a:srgbClr val="EC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809743" y="5358384"/>
            <a:ext cx="4471416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400" b="1">
                <a:solidFill>
                  <a:srgbClr val="04124C"/>
                </a:solidFill>
                <a:latin typeface="Aptos"/>
              </a:rPr>
              <a:t>20–30 NOV · validación en entorno real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267712" cy="6858000"/>
          </a:xfrm>
          <a:prstGeom prst="rect">
            <a:avLst/>
          </a:prstGeom>
          <a:solidFill>
            <a:srgbClr val="041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01168" y="164592"/>
            <a:ext cx="256032" cy="292608"/>
          </a:xfrm>
          <a:prstGeom prst="roundRect">
            <a:avLst/>
          </a:prstGeom>
          <a:solidFill>
            <a:srgbClr val="58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46888" y="214884"/>
            <a:ext cx="164592" cy="1371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500" b="1">
                <a:solidFill>
                  <a:srgbClr val="04124C"/>
                </a:solidFill>
                <a:latin typeface="Aptos"/>
              </a:rPr>
              <a:t>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6304"/>
            <a:ext cx="1417320" cy="2011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KONOR.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84048"/>
            <a:ext cx="1417320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50" b="1">
                <a:solidFill>
                  <a:srgbClr val="58C4DA"/>
                </a:solidFill>
                <a:latin typeface="Aptos"/>
              </a:rPr>
              <a:t>GESTIÓN AYUDANTES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" y="932688"/>
            <a:ext cx="1783080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850" b="1">
                <a:solidFill>
                  <a:srgbClr val="AABDD6"/>
                </a:solidFill>
                <a:latin typeface="Aptos"/>
              </a:rPr>
              <a:t>SECCIÓN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" y="1115568"/>
            <a:ext cx="1783080" cy="2926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Aptos"/>
              </a:rPr>
              <a:t>Ejecución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" y="1773936"/>
            <a:ext cx="141732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00" b="0">
                <a:solidFill>
                  <a:srgbClr val="E0E9F6"/>
                </a:solidFill>
                <a:latin typeface="Aptos"/>
              </a:rPr>
              <a:t>Contexto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" y="2286000"/>
            <a:ext cx="141732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00" b="0">
                <a:solidFill>
                  <a:srgbClr val="E0E9F6"/>
                </a:solidFill>
                <a:latin typeface="Aptos"/>
              </a:rPr>
              <a:t>Problema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" y="2798064"/>
            <a:ext cx="141732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00" b="0">
                <a:solidFill>
                  <a:srgbClr val="E0E9F6"/>
                </a:solidFill>
                <a:latin typeface="Aptos"/>
              </a:rPr>
              <a:t>Arquitectura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" y="3310128"/>
            <a:ext cx="141732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00" b="0">
                <a:solidFill>
                  <a:srgbClr val="E0E9F6"/>
                </a:solidFill>
                <a:latin typeface="Aptos"/>
              </a:rPr>
              <a:t>TRL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6888" y="3730752"/>
            <a:ext cx="1810512" cy="411480"/>
          </a:xfrm>
          <a:prstGeom prst="roundRect">
            <a:avLst/>
          </a:prstGeom>
          <a:solidFill>
            <a:srgbClr val="47B0C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0896" y="3822191"/>
            <a:ext cx="141732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50" b="1">
                <a:solidFill>
                  <a:srgbClr val="04124C"/>
                </a:solidFill>
                <a:latin typeface="Aptos"/>
              </a:rPr>
              <a:t>Metodología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" y="6355080"/>
            <a:ext cx="1280160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"/>
              </a:rPr>
              <a:t>Cerrar sesión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42032" y="837439"/>
            <a:ext cx="905256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500" b="1" dirty="0" err="1">
                <a:solidFill>
                  <a:srgbClr val="04124C"/>
                </a:solidFill>
                <a:latin typeface="Aptos"/>
              </a:rPr>
              <a:t>Metodología</a:t>
            </a:r>
            <a:r>
              <a:rPr sz="2500" b="1" dirty="0">
                <a:solidFill>
                  <a:srgbClr val="04124C"/>
                </a:solidFill>
                <a:latin typeface="Aptos"/>
              </a:rPr>
              <a:t> de </a:t>
            </a:r>
            <a:r>
              <a:rPr sz="2500" b="1" dirty="0" err="1">
                <a:solidFill>
                  <a:srgbClr val="04124C"/>
                </a:solidFill>
                <a:latin typeface="Aptos"/>
              </a:rPr>
              <a:t>trabajo</a:t>
            </a:r>
            <a:endParaRPr sz="2500" b="1" dirty="0">
              <a:solidFill>
                <a:srgbClr val="04124C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611880" y="1773936"/>
            <a:ext cx="1371600" cy="841248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85032" y="2020824"/>
            <a:ext cx="1225296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450" b="1">
                <a:solidFill>
                  <a:srgbClr val="04124C"/>
                </a:solidFill>
                <a:latin typeface="Aptos"/>
              </a:rPr>
              <a:t>Backlog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983480" y="2194560"/>
            <a:ext cx="365760" cy="0"/>
          </a:xfrm>
          <a:prstGeom prst="line">
            <a:avLst/>
          </a:prstGeom>
          <a:ln w="22860">
            <a:solidFill>
              <a:srgbClr val="687A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440680" y="1773936"/>
            <a:ext cx="1371600" cy="841248"/>
          </a:xfrm>
          <a:prstGeom prst="roundRect">
            <a:avLst/>
          </a:prstGeom>
          <a:solidFill>
            <a:srgbClr val="F5F2FF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513832" y="2020824"/>
            <a:ext cx="1225296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450" b="1">
                <a:solidFill>
                  <a:srgbClr val="04124C"/>
                </a:solidFill>
                <a:latin typeface="Aptos"/>
              </a:rPr>
              <a:t>Planificar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812280" y="2194560"/>
            <a:ext cx="365760" cy="0"/>
          </a:xfrm>
          <a:prstGeom prst="line">
            <a:avLst/>
          </a:prstGeom>
          <a:ln w="22860">
            <a:solidFill>
              <a:srgbClr val="687A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269480" y="1773936"/>
            <a:ext cx="1371600" cy="841248"/>
          </a:xfrm>
          <a:prstGeom prst="roundRect">
            <a:avLst/>
          </a:prstGeom>
          <a:solidFill>
            <a:srgbClr val="ECF9FC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42632" y="2020824"/>
            <a:ext cx="1225296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450" b="1">
                <a:solidFill>
                  <a:srgbClr val="04124C"/>
                </a:solidFill>
                <a:latin typeface="Aptos"/>
              </a:rPr>
              <a:t>Construir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641080" y="2194560"/>
            <a:ext cx="365760" cy="0"/>
          </a:xfrm>
          <a:prstGeom prst="line">
            <a:avLst/>
          </a:prstGeom>
          <a:ln w="22860">
            <a:solidFill>
              <a:srgbClr val="687A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098280" y="1773936"/>
            <a:ext cx="1371600" cy="841248"/>
          </a:xfrm>
          <a:prstGeom prst="roundRect">
            <a:avLst/>
          </a:prstGeom>
          <a:solidFill>
            <a:srgbClr val="ECFBF6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71432" y="2020824"/>
            <a:ext cx="1225296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450" b="1">
                <a:solidFill>
                  <a:srgbClr val="04124C"/>
                </a:solidFill>
                <a:latin typeface="Aptos"/>
              </a:rPr>
              <a:t>Validar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74720" y="3191256"/>
            <a:ext cx="1554480" cy="1719072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3602736" y="3337560"/>
            <a:ext cx="256032" cy="256032"/>
          </a:xfrm>
          <a:prstGeom prst="roundRect">
            <a:avLst/>
          </a:prstGeom>
          <a:solidFill>
            <a:srgbClr val="47B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950208" y="3282696"/>
            <a:ext cx="914400" cy="2560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600" b="1">
                <a:solidFill>
                  <a:srgbClr val="04124C"/>
                </a:solidFill>
                <a:latin typeface="Aptos"/>
              </a:rPr>
              <a:t>S1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39312" y="3675888"/>
            <a:ext cx="1225296" cy="112471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180" b="0">
                <a:solidFill>
                  <a:srgbClr val="12213F"/>
                </a:solidFill>
                <a:latin typeface="Aptos"/>
              </a:rPr>
              <a:t>01–14 OCT
BD + Directorio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394960" y="3191256"/>
            <a:ext cx="1554480" cy="1719072"/>
          </a:xfrm>
          <a:prstGeom prst="roundRect">
            <a:avLst/>
          </a:prstGeom>
          <a:solidFill>
            <a:srgbClr val="ECF9FC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5522976" y="3337560"/>
            <a:ext cx="256032" cy="256032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870448" y="3282696"/>
            <a:ext cx="914400" cy="2560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600" b="1">
                <a:solidFill>
                  <a:srgbClr val="04124C"/>
                </a:solidFill>
                <a:latin typeface="Aptos"/>
              </a:rPr>
              <a:t>S2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59552" y="3675888"/>
            <a:ext cx="1225296" cy="112471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180" b="0">
                <a:solidFill>
                  <a:srgbClr val="12213F"/>
                </a:solidFill>
                <a:latin typeface="Aptos"/>
              </a:rPr>
              <a:t>15–28 OCT
Turnos + Equidad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0" y="3191256"/>
            <a:ext cx="1554480" cy="1719072"/>
          </a:xfrm>
          <a:prstGeom prst="roundRect">
            <a:avLst/>
          </a:prstGeom>
          <a:solidFill>
            <a:srgbClr val="F5F2FF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7443216" y="3337560"/>
            <a:ext cx="256032" cy="256032"/>
          </a:xfrm>
          <a:prstGeom prst="roundRect">
            <a:avLst/>
          </a:prstGeom>
          <a:solidFill>
            <a:srgbClr val="7C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790688" y="3282696"/>
            <a:ext cx="914400" cy="2560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600" b="1">
                <a:solidFill>
                  <a:srgbClr val="04124C"/>
                </a:solidFill>
                <a:latin typeface="Aptos"/>
              </a:rPr>
              <a:t>S3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79792" y="3675888"/>
            <a:ext cx="1225296" cy="112471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180" b="0">
                <a:solidFill>
                  <a:srgbClr val="12213F"/>
                </a:solidFill>
                <a:latin typeface="Aptos"/>
              </a:rPr>
              <a:t>29 OCT–11 NOV
Asistencia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235440" y="3191256"/>
            <a:ext cx="1554480" cy="1719072"/>
          </a:xfrm>
          <a:prstGeom prst="roundRect">
            <a:avLst/>
          </a:prstGeom>
          <a:solidFill>
            <a:srgbClr val="FFF8DC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9363456" y="3337560"/>
            <a:ext cx="256032" cy="256032"/>
          </a:xfrm>
          <a:prstGeom prst="roundRect">
            <a:avLst/>
          </a:prstGeom>
          <a:solidFill>
            <a:srgbClr val="FF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710928" y="3282696"/>
            <a:ext cx="914400" cy="2560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600" b="1">
                <a:solidFill>
                  <a:srgbClr val="04124C"/>
                </a:solidFill>
                <a:latin typeface="Aptos"/>
              </a:rPr>
              <a:t>S4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00032" y="3675888"/>
            <a:ext cx="1225296" cy="112471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180" b="0">
                <a:solidFill>
                  <a:srgbClr val="12213F"/>
                </a:solidFill>
                <a:latin typeface="Aptos"/>
              </a:rPr>
              <a:t>12–19 NOV
Nómina + QA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0" y="5248656"/>
            <a:ext cx="4846320" cy="310896"/>
          </a:xfrm>
          <a:prstGeom prst="roundRect">
            <a:avLst/>
          </a:prstGeom>
          <a:solidFill>
            <a:srgbClr val="EC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599432" y="5294376"/>
            <a:ext cx="4791456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400" b="1">
                <a:solidFill>
                  <a:srgbClr val="04124C"/>
                </a:solidFill>
                <a:latin typeface="Aptos"/>
              </a:rPr>
              <a:t>Marcha Blanca · 20–30 NOV · Meta TRL 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1280160"/>
            <a:ext cx="10424160" cy="8686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ptos"/>
              </a:rPr>
              <a:t>¡GRACIAS!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40280"/>
            <a:ext cx="10332720" cy="4114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2500" b="1">
                <a:solidFill>
                  <a:srgbClr val="58C4DA"/>
                </a:solidFill>
                <a:latin typeface="Aptos"/>
              </a:rPr>
              <a:t>Equipo KONOR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74519" y="3108960"/>
            <a:ext cx="3794760" cy="1417320"/>
          </a:xfrm>
          <a:prstGeom prst="roundRect">
            <a:avLst/>
          </a:prstGeom>
          <a:solidFill>
            <a:srgbClr val="071C62"/>
          </a:solidFill>
          <a:ln w="12700">
            <a:solidFill>
              <a:srgbClr val="58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057400" y="3607308"/>
            <a:ext cx="34290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Aptos"/>
              </a:rPr>
              <a:t>Catalina Benítez Bravo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108960"/>
            <a:ext cx="3794760" cy="1417320"/>
          </a:xfrm>
          <a:prstGeom prst="roundRect">
            <a:avLst/>
          </a:prstGeom>
          <a:solidFill>
            <a:srgbClr val="071C62"/>
          </a:solidFill>
          <a:ln w="12700">
            <a:solidFill>
              <a:srgbClr val="58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3625596"/>
            <a:ext cx="34290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Aptos"/>
              </a:rPr>
              <a:t>Danitza Arias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324600"/>
            <a:ext cx="10332720" cy="2926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00" b="0" dirty="0">
                <a:solidFill>
                  <a:srgbClr val="A4BAC9"/>
                </a:solidFill>
                <a:latin typeface="Aptos"/>
              </a:rPr>
              <a:t>Proyecto APT · Ingeniería </a:t>
            </a:r>
            <a:r>
              <a:rPr sz="1300" b="0" dirty="0" err="1">
                <a:solidFill>
                  <a:srgbClr val="A4BAC9"/>
                </a:solidFill>
                <a:latin typeface="Aptos"/>
              </a:rPr>
              <a:t>en</a:t>
            </a:r>
            <a:r>
              <a:rPr sz="1300" b="0" dirty="0">
                <a:solidFill>
                  <a:srgbClr val="A4BAC9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A4BAC9"/>
                </a:solidFill>
                <a:latin typeface="Aptos"/>
              </a:rPr>
              <a:t>Informática</a:t>
            </a:r>
            <a:endParaRPr sz="1300" b="0" dirty="0">
              <a:solidFill>
                <a:srgbClr val="A4BAC9"/>
              </a:solidFill>
              <a:latin typeface="Aptos"/>
            </a:endParaRP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B233D79D-A973-8F7A-CF70-34E59AAB4BEC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A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593</Words>
  <Application>Microsoft Office PowerPoint</Application>
  <PresentationFormat>Panorámica</PresentationFormat>
  <Paragraphs>222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Catalina Bravo</dc:creator>
  <cp:keywords/>
  <dc:description>generated using python-pptx</dc:description>
  <cp:lastModifiedBy>CATALINA PAZ BENITEZ BRAVO</cp:lastModifiedBy>
  <cp:revision>5</cp:revision>
  <dcterms:created xsi:type="dcterms:W3CDTF">2013-01-27T09:14:16Z</dcterms:created>
  <dcterms:modified xsi:type="dcterms:W3CDTF">2026-10-09T16:16:35Z</dcterms:modified>
  <cp:category/>
</cp:coreProperties>
</file>