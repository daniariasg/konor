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KONOR propone centralizar la gestión de alumnos ayudantes. Presentamos el problema y el propósito del proyecto. Catalina Benítez Bravo y Danitza Arias Garrido. Fuente: Pitch.docx, documento proporcionado por el equipo. Diseño: KonorPresentacion0910.pptx.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pitch describe una selección informal que favorece a quienes responden primero por WhatsApp. La propuesta mantiene la coordinación externa de disponibilidad y traslada la selección a una comparación por horas acumuladas. Estas observaciones son el diagnóstico del equipo, no resultados de una medición cuantitativa. Fuente: Pitch.docx.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pitch identifica reportes manuales, registros dispersos y dificultad para rastrear fracciones de horas y participaciones puntuales. El registro digital busca mejorar la trazabilidad y respaldar el trabajo realizado. Fuente: Pitch.docx.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cierre mensual exige reconstruir información con plazos estrictos. Esto sobrecarga al equipo y dificulta auditar y proyectar el gasto. El proyecto busca reducir esa reconstrucción manual; no se presentan ahorros medidos ni resultados finales de validación. Fuente: Pitch.docx.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solución propuesta centraliza la operación. La coordinación externa recoge disponibilidad; la selección prioriza menor carga horaria; la asistencia registra horas; la nómina consolida información para pago. Son beneficios y funciones objetivo. Al corte del 23 de octubre hay exportación básica, mientras que nómina integral y ledger siguen programados y el cierre está en integración. Fuentes: Pitch.docx y documentación de KONOR actualizada al 23/10/2026.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72E1-B69D-4632-9BAF-40A58A8D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E6EF3-740C-4CEA-9A05-E0506A6CA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0DECD-36DF-4824-980F-0A6D96ED5B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F5292-1B53-4728-9CC2-D2B190E0B4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0A2D7-DE82-4E29-BD5F-9657416DA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4C9A-E773-4F36-8764-91869531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A3E5-CAFC-486C-8AE1-8FAFBEE5F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71098-C515-40EF-B869-FC9499657A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54A9B-73B1-4B20-B910-028B8B0D6A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AFC13-5145-4EF1-8033-39377BE707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6BEA-B435-4EC0-AA1F-E4EC0F05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68B88-CC87-496F-A730-8039AF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FF92D-1A25-49C3-A6B4-E3114C8831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2A2CE-E2E7-4B22-A280-5C8A1070AE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13F5-F29B-44BB-BE13-7D3F61F25E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85E6-05F0-4B1E-8E73-D5F8375C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CDA91-4102-424E-AB16-D64964C3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443BF-90D0-4ACF-951A-D1EB36382A8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5BBF9-F893-4D31-9972-F4AAC4F2BB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ED123-ED91-49D9-8615-660095D449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0F2CF-BFB5-4D81-9509-9BBE04C8E6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2803-2035-4477-9818-8248A0B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9C68F-03B5-489D-9E0A-DAC3D6C8F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0BE86-7E27-45A0-A7F6-553E7D5AF73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6F146-EF93-4AF5-B6D4-D372840709D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C0240-2975-4F3B-8443-DA4E64CB36F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03147-F6FA-400F-A00F-690F11C5DE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AE5C9-7DFF-449F-96A9-14B5A25783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EE668-CCD4-4EAE-9588-895313770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046E-C49A-4F57-9F10-FE7D829F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0CB48-064A-42FB-B028-B99BAFF65B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62E6D-637B-49C8-AF39-542BF11D37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939F3-7EFF-4F7D-9419-07364F36F8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5F7CF-BE2D-498B-A2F5-0167299A4E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77EE3-4369-4812-AA4D-813EAE0FC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A95D9-9880-4897-8B6B-E8BF4D9038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AFDB-528C-49D4-B0A2-B7B93C8A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13E0-D66A-460C-B4EE-5817E29FD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231AE-BCD1-4BC0-9330-E69AD78B36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9F98C-969A-4E1D-85B1-BA477E91E4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7A60D-834D-46A9-869C-90FD543DB5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2BAAC-485F-41C9-BDBE-17C85B725A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812E-F3ED-41E0-A0C8-C471C335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F1FD5-13BA-44BE-A38B-E104971C5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BB4B2-DF1D-48FE-A0F6-1415DBCA13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FC6DB-C195-4EEF-B2C1-BEFD8C58BF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2D1F3-8DF7-41C1-8C84-27B19525A8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62CE-7131-44EF-A636-509086F41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A3CA-694E-4AC9-BC0C-562A1063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E5927-2D90-481D-BFD5-BE005953B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0A3E8-7414-4D5E-BB02-FB3A0E92EF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7DC7E-7DB5-4609-A8B1-2A3FB48B5E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62BAD-3DE1-4501-892A-4A1066F25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D4339-12EB-4FCD-86E5-EB493C6B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32803-AF31-4ED5-ADD1-C68846CF6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A2471-9059-4B5D-A0B3-4A18DE7111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8B70C-FEFB-4A5F-9E20-EFBECE9300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DC28-F202-4A01-81A9-670EA1A2D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AB5F4-4039-436E-97BA-CF6C4D2A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3AF14-2EAF-4C87-A63A-19D1318E5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2C048-AF7D-48A7-9CEF-B040BBF6BD3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23-10-2026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8B24-4134-4B0E-90FF-197CD61FEA1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67EBA-7243-4679-82DC-1F7FA64DA8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8F95CB-E30B-4315-8E40-DB532955B7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03DDD-B2F4-4B83-AD3F-073CC479D966}"/>
              </a:ext>
            </a:extLst>
          </p:cNvPr>
          <p:cNvSpPr>
            <a:spLocks noGrp="1"/>
          </p:cNvSpPr>
          <p:nvPr/>
        </p:nvSpPr>
        <p:spPr>
          <a:xfrm>
            <a:off x="2857500" y="1762125"/>
            <a:ext cx="64770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24386-410E-4409-B2AF-EA57347D7E89}"/>
              </a:ext>
            </a:extLst>
          </p:cNvPr>
          <p:cNvSpPr>
            <a:spLocks noGrp="1"/>
          </p:cNvSpPr>
          <p:nvPr/>
        </p:nvSpPr>
        <p:spPr>
          <a:xfrm>
            <a:off x="4047972" y="3124200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 dirty="0">
                <a:solidFill>
                  <a:srgbClr val="FAB800"/>
                </a:solidFill>
                <a:latin typeface="Aptos"/>
                <a:ea typeface="Aptos"/>
                <a:cs typeface="Aptos"/>
              </a:rPr>
              <a:t>Pitch del </a:t>
            </a:r>
            <a:r>
              <a:rPr lang="es-CL" sz="2000" b="1" dirty="0">
                <a:solidFill>
                  <a:srgbClr val="FAB800"/>
                </a:solidFill>
                <a:latin typeface="Aptos"/>
                <a:ea typeface="Aptos"/>
                <a:cs typeface="Aptos"/>
              </a:rPr>
              <a:t>P</a:t>
            </a:r>
            <a:r>
              <a:rPr sz="2000" b="1" dirty="0" err="1">
                <a:solidFill>
                  <a:srgbClr val="FAB800"/>
                </a:solidFill>
                <a:latin typeface="Aptos"/>
                <a:ea typeface="Aptos"/>
                <a:cs typeface="Aptos"/>
              </a:rPr>
              <a:t>royecto</a:t>
            </a:r>
            <a:endParaRPr sz="2000" b="1" dirty="0">
              <a:solidFill>
                <a:srgbClr val="FAB8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E8D69-4CB8-46C0-9848-E907D03EE83D}"/>
              </a:ext>
            </a:extLst>
          </p:cNvPr>
          <p:cNvSpPr>
            <a:spLocks noGrp="1"/>
          </p:cNvSpPr>
          <p:nvPr/>
        </p:nvSpPr>
        <p:spPr>
          <a:xfrm>
            <a:off x="2781147" y="3811571"/>
            <a:ext cx="66294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>
                <a:solidFill>
                  <a:srgbClr val="E8EFF5"/>
                </a:solidFill>
                <a:latin typeface="Aptos"/>
                <a:ea typeface="Aptos"/>
                <a:cs typeface="Aptos"/>
              </a:rPr>
              <a:t>Gestión de turnos y asistencia de alumnos ayudantes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6D7EB-8D0D-41B7-B6E0-A17B49A2433F}"/>
              </a:ext>
            </a:extLst>
          </p:cNvPr>
          <p:cNvSpPr>
            <a:spLocks noGrp="1"/>
          </p:cNvSpPr>
          <p:nvPr/>
        </p:nvSpPr>
        <p:spPr>
          <a:xfrm>
            <a:off x="8942832" y="20574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0E3049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29A5E-8C35-4CB0-A6BB-D17B2882C146}"/>
              </a:ext>
            </a:extLst>
          </p:cNvPr>
          <p:cNvSpPr>
            <a:spLocks noGrp="1"/>
          </p:cNvSpPr>
          <p:nvPr/>
        </p:nvSpPr>
        <p:spPr>
          <a:xfrm>
            <a:off x="502920" y="5926883"/>
            <a:ext cx="9048750" cy="243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Catalina Benítez Bravo y Danitza Arias Garrido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AAF5B-E2D8-4D0A-9DC8-BD320A5D86E8}"/>
              </a:ext>
            </a:extLst>
          </p:cNvPr>
          <p:cNvSpPr>
            <a:spLocks noGrp="1"/>
          </p:cNvSpPr>
          <p:nvPr/>
        </p:nvSpPr>
        <p:spPr>
          <a:xfrm>
            <a:off x="502920" y="6323933"/>
            <a:ext cx="676656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0" dirty="0">
                <a:solidFill>
                  <a:srgbClr val="B8C9D6"/>
                </a:solidFill>
                <a:latin typeface="Aptos"/>
                <a:ea typeface="Aptos"/>
                <a:cs typeface="Aptos"/>
              </a:rPr>
              <a:t>Capstone   Ingeniería </a:t>
            </a:r>
            <a:r>
              <a:rPr sz="1250" b="0" dirty="0" err="1">
                <a:solidFill>
                  <a:srgbClr val="B8C9D6"/>
                </a:solidFill>
                <a:latin typeface="Aptos"/>
                <a:ea typeface="Aptos"/>
                <a:cs typeface="Aptos"/>
              </a:rPr>
              <a:t>en</a:t>
            </a:r>
            <a:r>
              <a:rPr sz="1250" b="0" dirty="0">
                <a:solidFill>
                  <a:srgbClr val="B8C9D6"/>
                </a:solidFill>
                <a:latin typeface="Aptos"/>
                <a:ea typeface="Aptos"/>
                <a:cs typeface="Aptos"/>
              </a:rPr>
              <a:t> </a:t>
            </a:r>
            <a:r>
              <a:rPr sz="1250" b="0" dirty="0" err="1">
                <a:solidFill>
                  <a:srgbClr val="B8C9D6"/>
                </a:solidFill>
                <a:latin typeface="Aptos"/>
                <a:ea typeface="Aptos"/>
                <a:cs typeface="Aptos"/>
              </a:rPr>
              <a:t>Informática</a:t>
            </a:r>
            <a:r>
              <a:rPr sz="1250" b="0" dirty="0">
                <a:solidFill>
                  <a:srgbClr val="B8C9D6"/>
                </a:solidFill>
                <a:latin typeface="Aptos"/>
                <a:ea typeface="Aptos"/>
                <a:cs typeface="Aptos"/>
              </a:rPr>
              <a:t>   </a:t>
            </a:r>
            <a:r>
              <a:rPr sz="1250" b="0" dirty="0" err="1">
                <a:solidFill>
                  <a:srgbClr val="B8C9D6"/>
                </a:solidFill>
                <a:latin typeface="Aptos"/>
                <a:ea typeface="Aptos"/>
                <a:cs typeface="Aptos"/>
              </a:rPr>
              <a:t>Sede</a:t>
            </a:r>
            <a:r>
              <a:rPr sz="1250" b="0" dirty="0">
                <a:solidFill>
                  <a:srgbClr val="B8C9D6"/>
                </a:solidFill>
                <a:latin typeface="Aptos"/>
                <a:ea typeface="Aptos"/>
                <a:cs typeface="Aptos"/>
              </a:rPr>
              <a:t> San Bernardo</a:t>
            </a:r>
          </a:p>
        </p:txBody>
      </p:sp>
    </p:spTree>
    <p:extLst>
      <p:ext uri="{BB962C8B-B14F-4D97-AF65-F5344CB8AC3E}">
        <p14:creationId xmlns:p14="http://schemas.microsoft.com/office/powerpoint/2010/main" val="11579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C261EC-AF91-4E97-B320-93200DD892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BA8A7F-A21A-431D-AF4C-6F7FEC9C77CF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256032" cy="237743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2D04C-F3C7-42C8-9DCD-06FE0460A4AB}"/>
              </a:ext>
            </a:extLst>
          </p:cNvPr>
          <p:cNvSpPr>
            <a:spLocks noGrp="1"/>
          </p:cNvSpPr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A4DCC-9756-48A3-A314-071D87BC40DD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DAD5C-D129-4153-8C4D-0FC3A3A9AC1A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950" b="1">
                <a:solidFill>
                  <a:srgbClr val="58C4DA"/>
                </a:solidFill>
                <a:latin typeface="Aptos"/>
                <a:ea typeface="Aptos"/>
                <a:cs typeface="Aptos"/>
              </a:rPr>
              <a:t>GESTIÓN AYUDANTES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B391B-15BF-48FA-9BEE-97C5D7D17D4E}"/>
              </a:ext>
            </a:extLst>
          </p:cNvPr>
          <p:cNvSpPr>
            <a:spLocks noGrp="1"/>
          </p:cNvSpPr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AABDD6"/>
                </a:solidFill>
                <a:latin typeface="Aptos"/>
                <a:ea typeface="Aptos"/>
                <a:cs typeface="Aptos"/>
              </a:rPr>
              <a:t>SECCIÓN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D9BB8-0E9B-4A5B-A9A1-E088E78A8EBE}"/>
              </a:ext>
            </a:extLst>
          </p:cNvPr>
          <p:cNvSpPr>
            <a:spLocks noGrp="1"/>
          </p:cNvSpPr>
          <p:nvPr/>
        </p:nvSpPr>
        <p:spPr>
          <a:xfrm>
            <a:off x="237744" y="1115568"/>
            <a:ext cx="178308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Turnos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BB0BB6-1A13-4DF6-AF78-C21D1FC70D46}"/>
              </a:ext>
            </a:extLst>
          </p:cNvPr>
          <p:cNvSpPr>
            <a:spLocks noGrp="1"/>
          </p:cNvSpPr>
          <p:nvPr/>
        </p:nvSpPr>
        <p:spPr>
          <a:xfrm>
            <a:off x="224028" y="1673351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414D1-0FFE-40C0-A214-04997C2BCD77}"/>
              </a:ext>
            </a:extLst>
          </p:cNvPr>
          <p:cNvSpPr>
            <a:spLocks noGrp="1"/>
          </p:cNvSpPr>
          <p:nvPr/>
        </p:nvSpPr>
        <p:spPr>
          <a:xfrm>
            <a:off x="310896" y="1773936"/>
            <a:ext cx="1417320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Turnos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63F7E-715F-4B74-A5E4-235F2C2B108E}"/>
              </a:ext>
            </a:extLst>
          </p:cNvPr>
          <p:cNvSpPr>
            <a:spLocks noGrp="1"/>
          </p:cNvSpPr>
          <p:nvPr/>
        </p:nvSpPr>
        <p:spPr>
          <a:xfrm>
            <a:off x="310896" y="2286000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2F96F-D769-44EE-A4D2-7E4B33C0EFC0}"/>
              </a:ext>
            </a:extLst>
          </p:cNvPr>
          <p:cNvSpPr>
            <a:spLocks noGrp="1"/>
          </p:cNvSpPr>
          <p:nvPr/>
        </p:nvSpPr>
        <p:spPr>
          <a:xfrm>
            <a:off x="310896" y="2798064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F5521-FEFB-4E08-B558-2D2DDFE27117}"/>
              </a:ext>
            </a:extLst>
          </p:cNvPr>
          <p:cNvSpPr>
            <a:spLocks noGrp="1"/>
          </p:cNvSpPr>
          <p:nvPr/>
        </p:nvSpPr>
        <p:spPr>
          <a:xfrm>
            <a:off x="310896" y="3310128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5F128B-E345-41B0-9141-AE4E99CF5D76}"/>
              </a:ext>
            </a:extLst>
          </p:cNvPr>
          <p:cNvSpPr>
            <a:spLocks noGrp="1"/>
          </p:cNvSpPr>
          <p:nvPr/>
        </p:nvSpPr>
        <p:spPr>
          <a:xfrm>
            <a:off x="310896" y="3822191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Proyecto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A58EE-D731-4921-A0A0-162FE77C6C7E}"/>
              </a:ext>
            </a:extLst>
          </p:cNvPr>
          <p:cNvSpPr>
            <a:spLocks noGrp="1"/>
          </p:cNvSpPr>
          <p:nvPr/>
        </p:nvSpPr>
        <p:spPr>
          <a:xfrm>
            <a:off x="237744" y="6355080"/>
            <a:ext cx="1280160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KONOR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DD49CB-551E-4326-A1AC-828CCDEBB327}"/>
              </a:ext>
            </a:extLst>
          </p:cNvPr>
          <p:cNvSpPr>
            <a:spLocks noGrp="1"/>
          </p:cNvSpPr>
          <p:nvPr/>
        </p:nvSpPr>
        <p:spPr>
          <a:xfrm>
            <a:off x="2505151" y="755951"/>
            <a:ext cx="9052560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Asignación de turnos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8ACDA0-02B7-4A2E-93E3-D935AB8CC6CC}"/>
              </a:ext>
            </a:extLst>
          </p:cNvPr>
          <p:cNvSpPr>
            <a:spLocks noGrp="1"/>
          </p:cNvSpPr>
          <p:nvPr/>
        </p:nvSpPr>
        <p:spPr>
          <a:xfrm>
            <a:off x="3190240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93F400-8907-4410-B6DE-B6910DE3AAB4}"/>
              </a:ext>
            </a:extLst>
          </p:cNvPr>
          <p:cNvSpPr>
            <a:spLocks noGrp="1"/>
          </p:cNvSpPr>
          <p:nvPr/>
        </p:nvSpPr>
        <p:spPr>
          <a:xfrm>
            <a:off x="3263392" y="1911590"/>
            <a:ext cx="1591056" cy="314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47B0C4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30F5AA-7958-4BD0-A0C8-631FDB0FA0B3}"/>
              </a:ext>
            </a:extLst>
          </p:cNvPr>
          <p:cNvSpPr>
            <a:spLocks noGrp="1"/>
          </p:cNvSpPr>
          <p:nvPr/>
        </p:nvSpPr>
        <p:spPr>
          <a:xfrm>
            <a:off x="3263392" y="2231253"/>
            <a:ext cx="1591056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convocatoria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A25EE91-EC0D-40E4-A081-55251A80545A}"/>
              </a:ext>
            </a:extLst>
          </p:cNvPr>
          <p:cNvSpPr>
            <a:spLocks noGrp="1"/>
          </p:cNvSpPr>
          <p:nvPr/>
        </p:nvSpPr>
        <p:spPr>
          <a:xfrm>
            <a:off x="5220208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7EB01A-4AB3-4DC9-BF3E-B8A55866EAD6}"/>
              </a:ext>
            </a:extLst>
          </p:cNvPr>
          <p:cNvSpPr>
            <a:spLocks noGrp="1"/>
          </p:cNvSpPr>
          <p:nvPr/>
        </p:nvSpPr>
        <p:spPr>
          <a:xfrm>
            <a:off x="5293360" y="1911590"/>
            <a:ext cx="1591056" cy="314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47B0C4"/>
                </a:solidFill>
                <a:latin typeface="Aptos"/>
                <a:ea typeface="Aptos"/>
                <a:cs typeface="Aptos"/>
              </a:rPr>
              <a:t>Rapidez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25229D-F6B3-4427-AA0D-4A5A00C28913}"/>
              </a:ext>
            </a:extLst>
          </p:cNvPr>
          <p:cNvSpPr>
            <a:spLocks noGrp="1"/>
          </p:cNvSpPr>
          <p:nvPr/>
        </p:nvSpPr>
        <p:spPr>
          <a:xfrm>
            <a:off x="5293360" y="2231253"/>
            <a:ext cx="1591056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para responder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BED1CB0-CE5A-438B-B993-6B1E5348B451}"/>
              </a:ext>
            </a:extLst>
          </p:cNvPr>
          <p:cNvSpPr>
            <a:spLocks noGrp="1"/>
          </p:cNvSpPr>
          <p:nvPr/>
        </p:nvSpPr>
        <p:spPr>
          <a:xfrm>
            <a:off x="7250176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88DD1D-05F6-4016-A822-0B9DE0E7AD69}"/>
              </a:ext>
            </a:extLst>
          </p:cNvPr>
          <p:cNvSpPr>
            <a:spLocks noGrp="1"/>
          </p:cNvSpPr>
          <p:nvPr/>
        </p:nvSpPr>
        <p:spPr>
          <a:xfrm>
            <a:off x="7323328" y="1911590"/>
            <a:ext cx="1591056" cy="314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47B0C4"/>
                </a:solidFill>
                <a:latin typeface="Aptos"/>
                <a:ea typeface="Aptos"/>
                <a:cs typeface="Aptos"/>
              </a:rPr>
              <a:t>Horas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5E7018-C944-43BE-B141-D94712BEDE45}"/>
              </a:ext>
            </a:extLst>
          </p:cNvPr>
          <p:cNvSpPr>
            <a:spLocks noGrp="1"/>
          </p:cNvSpPr>
          <p:nvPr/>
        </p:nvSpPr>
        <p:spPr>
          <a:xfrm>
            <a:off x="7323328" y="2231253"/>
            <a:ext cx="1591056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sin comparar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A2ACF18-F08A-4C34-B44A-F01106D79335}"/>
              </a:ext>
            </a:extLst>
          </p:cNvPr>
          <p:cNvSpPr>
            <a:spLocks noGrp="1"/>
          </p:cNvSpPr>
          <p:nvPr/>
        </p:nvSpPr>
        <p:spPr>
          <a:xfrm>
            <a:off x="9280144" y="1787144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CE6BBE-530F-4DAF-BBF6-8A8A387913A0}"/>
              </a:ext>
            </a:extLst>
          </p:cNvPr>
          <p:cNvSpPr>
            <a:spLocks noGrp="1"/>
          </p:cNvSpPr>
          <p:nvPr/>
        </p:nvSpPr>
        <p:spPr>
          <a:xfrm>
            <a:off x="9353296" y="1911590"/>
            <a:ext cx="1591056" cy="314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47B0C4"/>
                </a:solidFill>
                <a:latin typeface="Aptos"/>
                <a:ea typeface="Aptos"/>
                <a:cs typeface="Aptos"/>
              </a:rPr>
              <a:t>Equidad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294F8A-48B3-4F9B-87B2-EC06F9D0EFE6}"/>
              </a:ext>
            </a:extLst>
          </p:cNvPr>
          <p:cNvSpPr>
            <a:spLocks noGrp="1"/>
          </p:cNvSpPr>
          <p:nvPr/>
        </p:nvSpPr>
        <p:spPr>
          <a:xfrm>
            <a:off x="9353296" y="2231253"/>
            <a:ext cx="1591056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por resguardar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50FDC5-8BCB-408D-8F71-62CF7AF75D6F}"/>
              </a:ext>
            </a:extLst>
          </p:cNvPr>
          <p:cNvSpPr>
            <a:spLocks noGrp="1"/>
          </p:cNvSpPr>
          <p:nvPr/>
        </p:nvSpPr>
        <p:spPr>
          <a:xfrm>
            <a:off x="2505151" y="3202328"/>
            <a:ext cx="8589945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8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Selección</a:t>
            </a:r>
            <a:r>
              <a:rPr sz="180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informal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DC00CDB-4032-48ED-BD3D-59DEDBC2A340}"/>
              </a:ext>
            </a:extLst>
          </p:cNvPr>
          <p:cNvSpPr>
            <a:spLocks noGrp="1"/>
          </p:cNvSpPr>
          <p:nvPr/>
        </p:nvSpPr>
        <p:spPr>
          <a:xfrm>
            <a:off x="2627451" y="3822191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ECF046-7543-427A-AFB2-A34BD56A38EC}"/>
              </a:ext>
            </a:extLst>
          </p:cNvPr>
          <p:cNvSpPr>
            <a:spLocks noGrp="1"/>
          </p:cNvSpPr>
          <p:nvPr/>
        </p:nvSpPr>
        <p:spPr>
          <a:xfrm>
            <a:off x="2694789" y="4163363"/>
            <a:ext cx="1493415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Publicación del turno</a:t>
            </a:r>
          </a:p>
        </p:txBody>
      </p:sp>
      <p:sp>
        <p:nvSpPr>
          <p:cNvPr id="43" name="Connector 42">
            <a:extLst>
              <a:ext uri="{FF2B5EF4-FFF2-40B4-BE49-F238E27FC236}">
                <a16:creationId xmlns:a16="http://schemas.microsoft.com/office/drawing/2014/main" id="{56AD5614-4DFA-4687-9480-55410FC4E7F1}"/>
              </a:ext>
            </a:extLst>
          </p:cNvPr>
          <p:cNvSpPr>
            <a:spLocks noGrp="1"/>
          </p:cNvSpPr>
          <p:nvPr/>
        </p:nvSpPr>
        <p:spPr>
          <a:xfrm>
            <a:off x="4483901" y="432560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1F69326-3959-40D4-B3E5-D4717887AF46}"/>
              </a:ext>
            </a:extLst>
          </p:cNvPr>
          <p:cNvSpPr>
            <a:spLocks noGrp="1"/>
          </p:cNvSpPr>
          <p:nvPr/>
        </p:nvSpPr>
        <p:spPr>
          <a:xfrm>
            <a:off x="5140138" y="3783582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A708DC-1BA2-4167-BA01-D5439C68D3CF}"/>
              </a:ext>
            </a:extLst>
          </p:cNvPr>
          <p:cNvSpPr>
            <a:spLocks noGrp="1"/>
          </p:cNvSpPr>
          <p:nvPr/>
        </p:nvSpPr>
        <p:spPr>
          <a:xfrm>
            <a:off x="5207476" y="4079629"/>
            <a:ext cx="1493415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Respuestas por chat</a:t>
            </a:r>
          </a:p>
        </p:txBody>
      </p:sp>
      <p:sp>
        <p:nvSpPr>
          <p:cNvPr id="46" name="Connector 45">
            <a:extLst>
              <a:ext uri="{FF2B5EF4-FFF2-40B4-BE49-F238E27FC236}">
                <a16:creationId xmlns:a16="http://schemas.microsoft.com/office/drawing/2014/main" id="{016EB9E4-79F2-4B2E-A171-4C512D0A899E}"/>
              </a:ext>
            </a:extLst>
          </p:cNvPr>
          <p:cNvSpPr>
            <a:spLocks noGrp="1"/>
          </p:cNvSpPr>
          <p:nvPr/>
        </p:nvSpPr>
        <p:spPr>
          <a:xfrm>
            <a:off x="6957568" y="430079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17F9560-F9AF-4FD8-A18E-3E8972D382A1}"/>
              </a:ext>
            </a:extLst>
          </p:cNvPr>
          <p:cNvSpPr>
            <a:spLocks noGrp="1"/>
          </p:cNvSpPr>
          <p:nvPr/>
        </p:nvSpPr>
        <p:spPr>
          <a:xfrm>
            <a:off x="7565921" y="3784267"/>
            <a:ext cx="1628159" cy="939830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24F176-106C-4392-A472-142FF066F284}"/>
              </a:ext>
            </a:extLst>
          </p:cNvPr>
          <p:cNvSpPr>
            <a:spLocks noGrp="1"/>
          </p:cNvSpPr>
          <p:nvPr/>
        </p:nvSpPr>
        <p:spPr>
          <a:xfrm>
            <a:off x="7633259" y="4058316"/>
            <a:ext cx="1493415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Selección por rapidez</a:t>
            </a:r>
          </a:p>
        </p:txBody>
      </p:sp>
      <p:sp>
        <p:nvSpPr>
          <p:cNvPr id="49" name="Connector 48">
            <a:extLst>
              <a:ext uri="{FF2B5EF4-FFF2-40B4-BE49-F238E27FC236}">
                <a16:creationId xmlns:a16="http://schemas.microsoft.com/office/drawing/2014/main" id="{7DAFA56D-0345-40B6-97DA-A2F6D17D5647}"/>
              </a:ext>
            </a:extLst>
          </p:cNvPr>
          <p:cNvSpPr>
            <a:spLocks noGrp="1"/>
          </p:cNvSpPr>
          <p:nvPr/>
        </p:nvSpPr>
        <p:spPr>
          <a:xfrm>
            <a:off x="9353296" y="4300793"/>
            <a:ext cx="370547" cy="0"/>
          </a:xfrm>
          <a:prstGeom prst="line">
            <a:avLst/>
          </a:prstGeom>
          <a:ln w="2540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226E47B-65B5-401D-BBDF-ACC935FCA2D1}"/>
              </a:ext>
            </a:extLst>
          </p:cNvPr>
          <p:cNvSpPr>
            <a:spLocks noGrp="1"/>
          </p:cNvSpPr>
          <p:nvPr/>
        </p:nvSpPr>
        <p:spPr>
          <a:xfrm>
            <a:off x="9983280" y="3784267"/>
            <a:ext cx="1628159" cy="939830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678D80-EC10-4735-891E-780BD2C77CBB}"/>
              </a:ext>
            </a:extLst>
          </p:cNvPr>
          <p:cNvSpPr>
            <a:spLocks noGrp="1"/>
          </p:cNvSpPr>
          <p:nvPr/>
        </p:nvSpPr>
        <p:spPr>
          <a:xfrm>
            <a:off x="10050618" y="4058315"/>
            <a:ext cx="1493415" cy="2159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Acceso desigual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4FEDBAC-9FBC-4C5F-862F-3133F5DF518A}"/>
              </a:ext>
            </a:extLst>
          </p:cNvPr>
          <p:cNvSpPr>
            <a:spLocks noGrp="1"/>
          </p:cNvSpPr>
          <p:nvPr/>
        </p:nvSpPr>
        <p:spPr>
          <a:xfrm>
            <a:off x="3359404" y="5950704"/>
            <a:ext cx="7635240" cy="502920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56C46F-B546-4BEE-9B0D-C21D2E074D53}"/>
              </a:ext>
            </a:extLst>
          </p:cNvPr>
          <p:cNvSpPr>
            <a:spLocks noGrp="1"/>
          </p:cNvSpPr>
          <p:nvPr/>
        </p:nvSpPr>
        <p:spPr>
          <a:xfrm>
            <a:off x="3508101" y="6064053"/>
            <a:ext cx="726948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5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Responder primero no </a:t>
            </a:r>
            <a:r>
              <a:rPr sz="155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significa</a:t>
            </a:r>
            <a:r>
              <a:rPr sz="155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</a:t>
            </a:r>
            <a:r>
              <a:rPr sz="155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tener</a:t>
            </a:r>
            <a:r>
              <a:rPr sz="155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</a:t>
            </a:r>
            <a:r>
              <a:rPr sz="155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menos</a:t>
            </a:r>
            <a:r>
              <a:rPr sz="155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horas </a:t>
            </a:r>
            <a:r>
              <a:rPr sz="155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acumuladas</a:t>
            </a:r>
            <a:r>
              <a:rPr sz="155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87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2870C0-742B-48D6-87FE-1C1B39B035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067E2F-35EB-4AF0-8CC3-BEEB154CB523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256032" cy="256031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1912F-0F6F-42A4-BC17-9A643A0CE41A}"/>
              </a:ext>
            </a:extLst>
          </p:cNvPr>
          <p:cNvSpPr>
            <a:spLocks noGrp="1"/>
          </p:cNvSpPr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677B9-274D-41EC-A777-E4694DB16C5D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5AB20-0CCA-4EF5-AC83-75663A79BB5F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950" b="1">
                <a:solidFill>
                  <a:srgbClr val="58C4DA"/>
                </a:solidFill>
                <a:latin typeface="Aptos"/>
                <a:ea typeface="Aptos"/>
                <a:cs typeface="Aptos"/>
              </a:rPr>
              <a:t>GESTIÓN AYUDANTES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C87B7-7E1E-4F5C-A463-AF712E0247EC}"/>
              </a:ext>
            </a:extLst>
          </p:cNvPr>
          <p:cNvSpPr>
            <a:spLocks noGrp="1"/>
          </p:cNvSpPr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AABDD6"/>
                </a:solidFill>
                <a:latin typeface="Aptos"/>
                <a:ea typeface="Aptos"/>
                <a:cs typeface="Aptos"/>
              </a:rPr>
              <a:t>SECCIÓN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E9434-1C44-433F-A4F4-0A0B2FE8AC60}"/>
              </a:ext>
            </a:extLst>
          </p:cNvPr>
          <p:cNvSpPr>
            <a:spLocks noGrp="1"/>
          </p:cNvSpPr>
          <p:nvPr/>
        </p:nvSpPr>
        <p:spPr>
          <a:xfrm>
            <a:off x="237744" y="1115568"/>
            <a:ext cx="178308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3B07C-8BF4-4A67-9273-4DA9B32AA165}"/>
              </a:ext>
            </a:extLst>
          </p:cNvPr>
          <p:cNvSpPr>
            <a:spLocks noGrp="1"/>
          </p:cNvSpPr>
          <p:nvPr/>
        </p:nvSpPr>
        <p:spPr>
          <a:xfrm>
            <a:off x="310896" y="1773936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Turnos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1CD498-EA14-44B3-9B31-EBC5E9D15DA8}"/>
              </a:ext>
            </a:extLst>
          </p:cNvPr>
          <p:cNvSpPr>
            <a:spLocks noGrp="1"/>
          </p:cNvSpPr>
          <p:nvPr/>
        </p:nvSpPr>
        <p:spPr>
          <a:xfrm>
            <a:off x="237744" y="2171700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08F92A-3208-416B-B213-2B19353412A2}"/>
              </a:ext>
            </a:extLst>
          </p:cNvPr>
          <p:cNvSpPr>
            <a:spLocks noGrp="1"/>
          </p:cNvSpPr>
          <p:nvPr/>
        </p:nvSpPr>
        <p:spPr>
          <a:xfrm>
            <a:off x="310896" y="2286000"/>
            <a:ext cx="1417320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3C25B-72FD-429F-800C-056882207230}"/>
              </a:ext>
            </a:extLst>
          </p:cNvPr>
          <p:cNvSpPr>
            <a:spLocks noGrp="1"/>
          </p:cNvSpPr>
          <p:nvPr/>
        </p:nvSpPr>
        <p:spPr>
          <a:xfrm>
            <a:off x="310896" y="2798064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2B79D-328E-4AC1-9938-C54CB732362F}"/>
              </a:ext>
            </a:extLst>
          </p:cNvPr>
          <p:cNvSpPr>
            <a:spLocks noGrp="1"/>
          </p:cNvSpPr>
          <p:nvPr/>
        </p:nvSpPr>
        <p:spPr>
          <a:xfrm>
            <a:off x="310896" y="3310128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4FD2F4-05C3-4434-9E7F-5CFBF852E743}"/>
              </a:ext>
            </a:extLst>
          </p:cNvPr>
          <p:cNvSpPr>
            <a:spLocks noGrp="1"/>
          </p:cNvSpPr>
          <p:nvPr/>
        </p:nvSpPr>
        <p:spPr>
          <a:xfrm>
            <a:off x="310896" y="3822191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Proyecto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F03305-7677-49C1-BF39-FA05EB87558F}"/>
              </a:ext>
            </a:extLst>
          </p:cNvPr>
          <p:cNvSpPr>
            <a:spLocks noGrp="1"/>
          </p:cNvSpPr>
          <p:nvPr/>
        </p:nvSpPr>
        <p:spPr>
          <a:xfrm>
            <a:off x="237744" y="6355080"/>
            <a:ext cx="1280160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KONOR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3888A-7336-4134-9AAF-5E50177A7685}"/>
              </a:ext>
            </a:extLst>
          </p:cNvPr>
          <p:cNvSpPr>
            <a:spLocks noGrp="1"/>
          </p:cNvSpPr>
          <p:nvPr/>
        </p:nvSpPr>
        <p:spPr>
          <a:xfrm>
            <a:off x="2512535" y="704088"/>
            <a:ext cx="9052560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Control de asistencia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8059774-F043-4888-8186-4F325B14FBD8}"/>
              </a:ext>
            </a:extLst>
          </p:cNvPr>
          <p:cNvSpPr>
            <a:spLocks noGrp="1"/>
          </p:cNvSpPr>
          <p:nvPr/>
        </p:nvSpPr>
        <p:spPr>
          <a:xfrm>
            <a:off x="3431540" y="1371600"/>
            <a:ext cx="3566160" cy="1417320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C84BEC-49BA-43B6-8FC7-7D274F4F4D85}"/>
              </a:ext>
            </a:extLst>
          </p:cNvPr>
          <p:cNvSpPr>
            <a:spLocks noGrp="1"/>
          </p:cNvSpPr>
          <p:nvPr/>
        </p:nvSpPr>
        <p:spPr>
          <a:xfrm>
            <a:off x="3559556" y="1517904"/>
            <a:ext cx="256032" cy="256032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0C13B2-1D1E-4025-ABE4-6BBA4B2C3DDB}"/>
              </a:ext>
            </a:extLst>
          </p:cNvPr>
          <p:cNvSpPr>
            <a:spLocks noGrp="1"/>
          </p:cNvSpPr>
          <p:nvPr/>
        </p:nvSpPr>
        <p:spPr>
          <a:xfrm>
            <a:off x="3907028" y="1503293"/>
            <a:ext cx="2926080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8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Registro manual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FC217-9147-4920-A99B-F182C5E33F94}"/>
              </a:ext>
            </a:extLst>
          </p:cNvPr>
          <p:cNvSpPr>
            <a:spLocks noGrp="1"/>
          </p:cNvSpPr>
          <p:nvPr/>
        </p:nvSpPr>
        <p:spPr>
          <a:xfrm>
            <a:off x="3596132" y="1856232"/>
            <a:ext cx="3236976" cy="436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35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La asistencia depende de reportes no estandarizados.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783AFC1-A2C1-41F7-A9B4-C226B68ADFF4}"/>
              </a:ext>
            </a:extLst>
          </p:cNvPr>
          <p:cNvSpPr>
            <a:spLocks noGrp="1"/>
          </p:cNvSpPr>
          <p:nvPr/>
        </p:nvSpPr>
        <p:spPr>
          <a:xfrm>
            <a:off x="7336028" y="1371600"/>
            <a:ext cx="3566160" cy="14173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EFE0287-F268-41D1-A317-FD75F1DBEBC8}"/>
              </a:ext>
            </a:extLst>
          </p:cNvPr>
          <p:cNvSpPr>
            <a:spLocks noGrp="1"/>
          </p:cNvSpPr>
          <p:nvPr/>
        </p:nvSpPr>
        <p:spPr>
          <a:xfrm>
            <a:off x="7464044" y="1517904"/>
            <a:ext cx="256032" cy="256032"/>
          </a:xfrm>
          <a:prstGeom prst="roundRect">
            <a:avLst/>
          </a:prstGeom>
          <a:solidFill>
            <a:srgbClr val="FF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1027D7-45B9-4BE5-8D76-7F6710B809DA}"/>
              </a:ext>
            </a:extLst>
          </p:cNvPr>
          <p:cNvSpPr>
            <a:spLocks noGrp="1"/>
          </p:cNvSpPr>
          <p:nvPr/>
        </p:nvSpPr>
        <p:spPr>
          <a:xfrm>
            <a:off x="7811516" y="1526600"/>
            <a:ext cx="2926080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Fracciones de horas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F020D4-23FE-4BA4-9E17-FAFFB34CB5C6}"/>
              </a:ext>
            </a:extLst>
          </p:cNvPr>
          <p:cNvSpPr>
            <a:spLocks noGrp="1"/>
          </p:cNvSpPr>
          <p:nvPr/>
        </p:nvSpPr>
        <p:spPr>
          <a:xfrm>
            <a:off x="7500620" y="1856232"/>
            <a:ext cx="3236976" cy="436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35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Los minutos y participaciones puntuales son difíciles de rastrear.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6873920-FDC1-4BAD-A078-ADE6812FD20A}"/>
              </a:ext>
            </a:extLst>
          </p:cNvPr>
          <p:cNvSpPr>
            <a:spLocks noGrp="1"/>
          </p:cNvSpPr>
          <p:nvPr/>
        </p:nvSpPr>
        <p:spPr>
          <a:xfrm>
            <a:off x="3431540" y="3246120"/>
            <a:ext cx="3566160" cy="1417320"/>
          </a:xfrm>
          <a:prstGeom prst="roundRect">
            <a:avLst/>
          </a:prstGeom>
          <a:solidFill>
            <a:srgbClr val="F5F2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A59FE43-DC11-41F2-9475-72958841CC8C}"/>
              </a:ext>
            </a:extLst>
          </p:cNvPr>
          <p:cNvSpPr>
            <a:spLocks noGrp="1"/>
          </p:cNvSpPr>
          <p:nvPr/>
        </p:nvSpPr>
        <p:spPr>
          <a:xfrm>
            <a:off x="3559556" y="3392424"/>
            <a:ext cx="256032" cy="256032"/>
          </a:xfrm>
          <a:prstGeom prst="roundRect">
            <a:avLst/>
          </a:prstGeom>
          <a:solidFill>
            <a:srgbClr val="7C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A9336E-10C2-437A-802C-35B36895417B}"/>
              </a:ext>
            </a:extLst>
          </p:cNvPr>
          <p:cNvSpPr>
            <a:spLocks noGrp="1"/>
          </p:cNvSpPr>
          <p:nvPr/>
        </p:nvSpPr>
        <p:spPr>
          <a:xfrm>
            <a:off x="3907028" y="3389884"/>
            <a:ext cx="2926080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Datos dispersos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ABF1C8-D8B9-468B-A8B8-157EB4FF13D9}"/>
              </a:ext>
            </a:extLst>
          </p:cNvPr>
          <p:cNvSpPr>
            <a:spLocks noGrp="1"/>
          </p:cNvSpPr>
          <p:nvPr/>
        </p:nvSpPr>
        <p:spPr>
          <a:xfrm>
            <a:off x="3596132" y="3730752"/>
            <a:ext cx="3236976" cy="436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35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La información queda repartida entre chats y planillas.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B550738-49F2-41A3-AF5A-5F79371BE7E8}"/>
              </a:ext>
            </a:extLst>
          </p:cNvPr>
          <p:cNvSpPr>
            <a:spLocks noGrp="1"/>
          </p:cNvSpPr>
          <p:nvPr/>
        </p:nvSpPr>
        <p:spPr>
          <a:xfrm>
            <a:off x="7336028" y="3246120"/>
            <a:ext cx="3566160" cy="14173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5F522D5-8A81-43DB-8B15-B8E3F6D4E50F}"/>
              </a:ext>
            </a:extLst>
          </p:cNvPr>
          <p:cNvSpPr>
            <a:spLocks noGrp="1"/>
          </p:cNvSpPr>
          <p:nvPr/>
        </p:nvSpPr>
        <p:spPr>
          <a:xfrm>
            <a:off x="7464044" y="3392424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D15311-00E7-45F8-8385-900F994F3E5E}"/>
              </a:ext>
            </a:extLst>
          </p:cNvPr>
          <p:cNvSpPr>
            <a:spLocks noGrp="1"/>
          </p:cNvSpPr>
          <p:nvPr/>
        </p:nvSpPr>
        <p:spPr>
          <a:xfrm>
            <a:off x="7811516" y="3366577"/>
            <a:ext cx="2926080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Trabajo sin registrar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0E6F50-D045-4E4A-BC95-C5482F3A8AC5}"/>
              </a:ext>
            </a:extLst>
          </p:cNvPr>
          <p:cNvSpPr>
            <a:spLocks noGrp="1"/>
          </p:cNvSpPr>
          <p:nvPr/>
        </p:nvSpPr>
        <p:spPr>
          <a:xfrm>
            <a:off x="7500620" y="3730752"/>
            <a:ext cx="3236976" cy="436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35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Los registros incompletos elevan el riesgo de pagos inexactos.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ED0BD20-5614-44C9-A269-BA1460809A05}"/>
              </a:ext>
            </a:extLst>
          </p:cNvPr>
          <p:cNvSpPr>
            <a:spLocks noGrp="1"/>
          </p:cNvSpPr>
          <p:nvPr/>
        </p:nvSpPr>
        <p:spPr>
          <a:xfrm>
            <a:off x="3449828" y="5010912"/>
            <a:ext cx="7452360" cy="548640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18F2DD-2F82-44F9-98B8-A3D70CA9C92D}"/>
              </a:ext>
            </a:extLst>
          </p:cNvPr>
          <p:cNvSpPr>
            <a:spLocks noGrp="1"/>
          </p:cNvSpPr>
          <p:nvPr/>
        </p:nvSpPr>
        <p:spPr>
          <a:xfrm>
            <a:off x="3678428" y="5157216"/>
            <a:ext cx="699516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Necesidad: registrar la asistencia en el lugar y momento de la actividad.</a:t>
            </a:r>
          </a:p>
        </p:txBody>
      </p:sp>
    </p:spTree>
    <p:extLst>
      <p:ext uri="{BB962C8B-B14F-4D97-AF65-F5344CB8AC3E}">
        <p14:creationId xmlns:p14="http://schemas.microsoft.com/office/powerpoint/2010/main" val="183450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EA72CA-0CC1-4A87-9D51-3089A13150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51FC22-AC20-46C1-8ECB-EA593FD02C1E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256032" cy="292607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CBF9A-C914-4DE8-B97A-EB98FBDC5E1A}"/>
              </a:ext>
            </a:extLst>
          </p:cNvPr>
          <p:cNvSpPr>
            <a:spLocks noGrp="1"/>
          </p:cNvSpPr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42730-B3DD-476D-9BC3-2E85D1F5B3DD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EEE1E-DAAF-40CE-BF84-896F047FCCC1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950" b="1">
                <a:solidFill>
                  <a:srgbClr val="58C4DA"/>
                </a:solidFill>
                <a:latin typeface="Aptos"/>
                <a:ea typeface="Aptos"/>
                <a:cs typeface="Aptos"/>
              </a:rPr>
              <a:t>GESTIÓN AYUDANTES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839BA-88F6-4D2B-A083-D843F3914CEB}"/>
              </a:ext>
            </a:extLst>
          </p:cNvPr>
          <p:cNvSpPr>
            <a:spLocks noGrp="1"/>
          </p:cNvSpPr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AABDD6"/>
                </a:solidFill>
                <a:latin typeface="Aptos"/>
                <a:ea typeface="Aptos"/>
                <a:cs typeface="Aptos"/>
              </a:rPr>
              <a:t>SECCIÓN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16053-12FB-4CCA-9B23-834222FC5DBD}"/>
              </a:ext>
            </a:extLst>
          </p:cNvPr>
          <p:cNvSpPr>
            <a:spLocks noGrp="1"/>
          </p:cNvSpPr>
          <p:nvPr/>
        </p:nvSpPr>
        <p:spPr>
          <a:xfrm>
            <a:off x="237744" y="1115568"/>
            <a:ext cx="178308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3C2E9-08BC-4A4E-A1BB-21ACF0318DB4}"/>
              </a:ext>
            </a:extLst>
          </p:cNvPr>
          <p:cNvSpPr>
            <a:spLocks noGrp="1"/>
          </p:cNvSpPr>
          <p:nvPr/>
        </p:nvSpPr>
        <p:spPr>
          <a:xfrm>
            <a:off x="310896" y="1773936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Turnos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FEFC42-BF5F-4759-A859-2B176C3AD18A}"/>
              </a:ext>
            </a:extLst>
          </p:cNvPr>
          <p:cNvSpPr>
            <a:spLocks noGrp="1"/>
          </p:cNvSpPr>
          <p:nvPr/>
        </p:nvSpPr>
        <p:spPr>
          <a:xfrm>
            <a:off x="310896" y="2286000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0200F9-D1BD-44A6-8E8B-0FB751737F16}"/>
              </a:ext>
            </a:extLst>
          </p:cNvPr>
          <p:cNvSpPr>
            <a:spLocks noGrp="1"/>
          </p:cNvSpPr>
          <p:nvPr/>
        </p:nvSpPr>
        <p:spPr>
          <a:xfrm>
            <a:off x="246888" y="2683764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F0BD4-6CF0-454F-AD49-65736B937135}"/>
              </a:ext>
            </a:extLst>
          </p:cNvPr>
          <p:cNvSpPr>
            <a:spLocks noGrp="1"/>
          </p:cNvSpPr>
          <p:nvPr/>
        </p:nvSpPr>
        <p:spPr>
          <a:xfrm>
            <a:off x="310896" y="2798064"/>
            <a:ext cx="1417320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44100C-E284-4F29-86CB-45DACF45B1A6}"/>
              </a:ext>
            </a:extLst>
          </p:cNvPr>
          <p:cNvSpPr>
            <a:spLocks noGrp="1"/>
          </p:cNvSpPr>
          <p:nvPr/>
        </p:nvSpPr>
        <p:spPr>
          <a:xfrm>
            <a:off x="310896" y="3310128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F478-0202-4453-B340-CCE2D562FB76}"/>
              </a:ext>
            </a:extLst>
          </p:cNvPr>
          <p:cNvSpPr>
            <a:spLocks noGrp="1"/>
          </p:cNvSpPr>
          <p:nvPr/>
        </p:nvSpPr>
        <p:spPr>
          <a:xfrm>
            <a:off x="310896" y="3822191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Proyecto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7AF538-B9EF-4CA4-9A68-1E7D94F482A7}"/>
              </a:ext>
            </a:extLst>
          </p:cNvPr>
          <p:cNvSpPr>
            <a:spLocks noGrp="1"/>
          </p:cNvSpPr>
          <p:nvPr/>
        </p:nvSpPr>
        <p:spPr>
          <a:xfrm>
            <a:off x="237744" y="6355080"/>
            <a:ext cx="1280160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KONOR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D198D-31E9-425B-A5F2-56A037E7C7F2}"/>
              </a:ext>
            </a:extLst>
          </p:cNvPr>
          <p:cNvSpPr>
            <a:spLocks noGrp="1"/>
          </p:cNvSpPr>
          <p:nvPr/>
        </p:nvSpPr>
        <p:spPr>
          <a:xfrm>
            <a:off x="2556387" y="723266"/>
            <a:ext cx="9052560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Cierre mensual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706DB05-C9A0-409A-AE9F-619ACBB9F6A4}"/>
              </a:ext>
            </a:extLst>
          </p:cNvPr>
          <p:cNvSpPr>
            <a:spLocks noGrp="1"/>
          </p:cNvSpPr>
          <p:nvPr/>
        </p:nvSpPr>
        <p:spPr>
          <a:xfrm>
            <a:off x="3374586" y="2176052"/>
            <a:ext cx="3520440" cy="1992826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D14604-21A6-4EBB-BBEF-3B908A326BAC}"/>
              </a:ext>
            </a:extLst>
          </p:cNvPr>
          <p:cNvSpPr>
            <a:spLocks noGrp="1"/>
          </p:cNvSpPr>
          <p:nvPr/>
        </p:nvSpPr>
        <p:spPr>
          <a:xfrm>
            <a:off x="3502602" y="2432304"/>
            <a:ext cx="256032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FA1945-532C-4EE8-A354-25755DD82E90}"/>
              </a:ext>
            </a:extLst>
          </p:cNvPr>
          <p:cNvSpPr>
            <a:spLocks noGrp="1"/>
          </p:cNvSpPr>
          <p:nvPr/>
        </p:nvSpPr>
        <p:spPr>
          <a:xfrm>
            <a:off x="3850074" y="2450592"/>
            <a:ext cx="2880360" cy="3454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Contra reloj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36C973-F70D-4D3C-B4EB-5BD389D61C3A}"/>
              </a:ext>
            </a:extLst>
          </p:cNvPr>
          <p:cNvSpPr>
            <a:spLocks noGrp="1"/>
          </p:cNvSpPr>
          <p:nvPr/>
        </p:nvSpPr>
        <p:spPr>
          <a:xfrm>
            <a:off x="3539178" y="2980944"/>
            <a:ext cx="3191256" cy="756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just">
              <a:buNone/>
            </a:pP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Los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plazos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pago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exigen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reunir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reportes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reconstruir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las horas al final del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mes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6C398A7-E1BA-4BDA-A1EB-845F011AFAD5}"/>
              </a:ext>
            </a:extLst>
          </p:cNvPr>
          <p:cNvSpPr>
            <a:spLocks noGrp="1"/>
          </p:cNvSpPr>
          <p:nvPr/>
        </p:nvSpPr>
        <p:spPr>
          <a:xfrm>
            <a:off x="7196778" y="2144268"/>
            <a:ext cx="3520440" cy="202461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56A01C1-A0E0-47EE-BDD3-0817233EA2AE}"/>
              </a:ext>
            </a:extLst>
          </p:cNvPr>
          <p:cNvSpPr>
            <a:spLocks noGrp="1"/>
          </p:cNvSpPr>
          <p:nvPr/>
        </p:nvSpPr>
        <p:spPr>
          <a:xfrm>
            <a:off x="7324794" y="2432304"/>
            <a:ext cx="256032" cy="256032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5FE366-23C6-4A98-B992-ED638C608963}"/>
              </a:ext>
            </a:extLst>
          </p:cNvPr>
          <p:cNvSpPr>
            <a:spLocks noGrp="1"/>
          </p:cNvSpPr>
          <p:nvPr/>
        </p:nvSpPr>
        <p:spPr>
          <a:xfrm>
            <a:off x="7672266" y="2451716"/>
            <a:ext cx="2880360" cy="3454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Presupuesto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D1AD79-4CA1-4E46-9AF4-0E80AF70F2C0}"/>
              </a:ext>
            </a:extLst>
          </p:cNvPr>
          <p:cNvSpPr>
            <a:spLocks noGrp="1"/>
          </p:cNvSpPr>
          <p:nvPr/>
        </p:nvSpPr>
        <p:spPr>
          <a:xfrm>
            <a:off x="7452810" y="2980944"/>
            <a:ext cx="3191256" cy="756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just">
              <a:buNone/>
            </a:pP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Los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registros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incompletos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dificultan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auditar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las horas y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proyectar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 el </a:t>
            </a:r>
            <a:r>
              <a:rPr sz="1600" b="0" dirty="0" err="1">
                <a:solidFill>
                  <a:srgbClr val="12213F"/>
                </a:solidFill>
                <a:latin typeface="Aptos"/>
                <a:ea typeface="Aptos"/>
                <a:cs typeface="Aptos"/>
              </a:rPr>
              <a:t>gasto</a:t>
            </a:r>
            <a:r>
              <a:rPr sz="1600" b="0" dirty="0">
                <a:solidFill>
                  <a:srgbClr val="12213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8DA00AE-2EB3-4B82-88FE-5438A81E5FBE}"/>
              </a:ext>
            </a:extLst>
          </p:cNvPr>
          <p:cNvSpPr>
            <a:spLocks noGrp="1"/>
          </p:cNvSpPr>
          <p:nvPr/>
        </p:nvSpPr>
        <p:spPr>
          <a:xfrm>
            <a:off x="5021391" y="4331110"/>
            <a:ext cx="0" cy="594360"/>
          </a:xfrm>
          <a:prstGeom prst="line">
            <a:avLst/>
          </a:prstGeom>
          <a:ln w="2794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0CE945B-44BA-4E26-9164-68F88F9FEB5B}"/>
              </a:ext>
            </a:extLst>
          </p:cNvPr>
          <p:cNvSpPr>
            <a:spLocks noGrp="1"/>
          </p:cNvSpPr>
          <p:nvPr/>
        </p:nvSpPr>
        <p:spPr>
          <a:xfrm>
            <a:off x="8934138" y="4331110"/>
            <a:ext cx="0" cy="594360"/>
          </a:xfrm>
          <a:prstGeom prst="line">
            <a:avLst/>
          </a:prstGeom>
          <a:ln w="27940">
            <a:solidFill>
              <a:srgbClr val="47B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A6E1344-DBFA-4CBA-BFBE-1FD2FC65644E}"/>
              </a:ext>
            </a:extLst>
          </p:cNvPr>
          <p:cNvSpPr>
            <a:spLocks noGrp="1"/>
          </p:cNvSpPr>
          <p:nvPr/>
        </p:nvSpPr>
        <p:spPr>
          <a:xfrm>
            <a:off x="3604071" y="5009666"/>
            <a:ext cx="2834640" cy="310896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E22F23-2869-4489-BC0D-DDF2893EBEF0}"/>
              </a:ext>
            </a:extLst>
          </p:cNvPr>
          <p:cNvSpPr>
            <a:spLocks noGrp="1"/>
          </p:cNvSpPr>
          <p:nvPr/>
        </p:nvSpPr>
        <p:spPr>
          <a:xfrm>
            <a:off x="3658935" y="5035607"/>
            <a:ext cx="2779776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4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Sobrecarga</a:t>
            </a:r>
            <a:r>
              <a:rPr sz="140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administrativa</a:t>
            </a:r>
            <a:endParaRPr sz="1400" b="1" dirty="0">
              <a:solidFill>
                <a:srgbClr val="0412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91906AF-1271-418C-BA7D-E7211A5B2BD1}"/>
              </a:ext>
            </a:extLst>
          </p:cNvPr>
          <p:cNvSpPr>
            <a:spLocks noGrp="1"/>
          </p:cNvSpPr>
          <p:nvPr/>
        </p:nvSpPr>
        <p:spPr>
          <a:xfrm>
            <a:off x="7580826" y="4999539"/>
            <a:ext cx="2697480" cy="310896"/>
          </a:xfrm>
          <a:prstGeom prst="roundRect">
            <a:avLst/>
          </a:prstGeom>
          <a:solidFill>
            <a:srgbClr val="EC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B0C202-6B4A-4869-84BB-7DFF03D1C9AD}"/>
              </a:ext>
            </a:extLst>
          </p:cNvPr>
          <p:cNvSpPr>
            <a:spLocks noGrp="1"/>
          </p:cNvSpPr>
          <p:nvPr/>
        </p:nvSpPr>
        <p:spPr>
          <a:xfrm>
            <a:off x="7580826" y="5024087"/>
            <a:ext cx="2642616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Riesgo de </a:t>
            </a:r>
            <a:r>
              <a:rPr sz="14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errores</a:t>
            </a:r>
            <a:r>
              <a:rPr sz="140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en</a:t>
            </a:r>
            <a:r>
              <a:rPr sz="1400" b="1" dirty="0">
                <a:solidFill>
                  <a:srgbClr val="04124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04124C"/>
                </a:solidFill>
                <a:latin typeface="Aptos"/>
                <a:ea typeface="Aptos"/>
                <a:cs typeface="Aptos"/>
              </a:rPr>
              <a:t>pagos</a:t>
            </a:r>
            <a:endParaRPr sz="1400" b="1" dirty="0">
              <a:solidFill>
                <a:srgbClr val="04124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814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AC425E-F594-47E8-B6A9-D3D5CBA010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04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405131C-1291-4395-86F4-F8494FE9EE9B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256032" cy="292607"/>
          </a:xfrm>
          <a:prstGeom prst="roundRect">
            <a:avLst/>
          </a:prstGeom>
          <a:solidFill>
            <a:srgbClr val="58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E5517-36A5-4ED8-8925-2A1519E813CC}"/>
              </a:ext>
            </a:extLst>
          </p:cNvPr>
          <p:cNvSpPr>
            <a:spLocks noGrp="1"/>
          </p:cNvSpPr>
          <p:nvPr/>
        </p:nvSpPr>
        <p:spPr>
          <a:xfrm>
            <a:off x="246888" y="214884"/>
            <a:ext cx="164592" cy="137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5F4E8-EE55-4C64-95E1-ADC43DE8444E}"/>
              </a:ext>
            </a:extLst>
          </p:cNvPr>
          <p:cNvSpPr>
            <a:spLocks noGrp="1"/>
          </p:cNvSpPr>
          <p:nvPr/>
        </p:nvSpPr>
        <p:spPr>
          <a:xfrm>
            <a:off x="566928" y="146304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48044-1CBE-40FD-B77E-046830D1AC9B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141732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950" b="1">
                <a:solidFill>
                  <a:srgbClr val="58C4DA"/>
                </a:solidFill>
                <a:latin typeface="Aptos"/>
                <a:ea typeface="Aptos"/>
                <a:cs typeface="Aptos"/>
              </a:rPr>
              <a:t>GESTIÓN AYUDANTES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48C28-BC91-4454-8D85-9CA4A49BC476}"/>
              </a:ext>
            </a:extLst>
          </p:cNvPr>
          <p:cNvSpPr>
            <a:spLocks noGrp="1"/>
          </p:cNvSpPr>
          <p:nvPr/>
        </p:nvSpPr>
        <p:spPr>
          <a:xfrm>
            <a:off x="237744" y="932688"/>
            <a:ext cx="1783080" cy="1645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AABDD6"/>
                </a:solidFill>
                <a:latin typeface="Aptos"/>
                <a:ea typeface="Aptos"/>
                <a:cs typeface="Aptos"/>
              </a:rPr>
              <a:t>SECCIÓN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6009D-E3F0-4927-B012-AAEB5C955E08}"/>
              </a:ext>
            </a:extLst>
          </p:cNvPr>
          <p:cNvSpPr>
            <a:spLocks noGrp="1"/>
          </p:cNvSpPr>
          <p:nvPr/>
        </p:nvSpPr>
        <p:spPr>
          <a:xfrm>
            <a:off x="237744" y="1115568"/>
            <a:ext cx="1783080" cy="261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93FFB-8491-47BD-AD0A-810C6D7878E0}"/>
              </a:ext>
            </a:extLst>
          </p:cNvPr>
          <p:cNvSpPr>
            <a:spLocks noGrp="1"/>
          </p:cNvSpPr>
          <p:nvPr/>
        </p:nvSpPr>
        <p:spPr>
          <a:xfrm>
            <a:off x="310896" y="1773936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Turnos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EE80C-AA3A-4E6E-9424-DB1CB4742204}"/>
              </a:ext>
            </a:extLst>
          </p:cNvPr>
          <p:cNvSpPr>
            <a:spLocks noGrp="1"/>
          </p:cNvSpPr>
          <p:nvPr/>
        </p:nvSpPr>
        <p:spPr>
          <a:xfrm>
            <a:off x="310896" y="2286000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E0E9F6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8BF5013-3A55-43E5-9A8D-9BF013E26F49}"/>
              </a:ext>
            </a:extLst>
          </p:cNvPr>
          <p:cNvSpPr>
            <a:spLocks noGrp="1"/>
          </p:cNvSpPr>
          <p:nvPr/>
        </p:nvSpPr>
        <p:spPr>
          <a:xfrm>
            <a:off x="214884" y="3209544"/>
            <a:ext cx="1810512" cy="411480"/>
          </a:xfrm>
          <a:prstGeom prst="roundRect">
            <a:avLst/>
          </a:prstGeom>
          <a:solidFill>
            <a:srgbClr val="47B0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7C4B0-143C-4375-90EB-12253F1827AB}"/>
              </a:ext>
            </a:extLst>
          </p:cNvPr>
          <p:cNvSpPr>
            <a:spLocks noGrp="1"/>
          </p:cNvSpPr>
          <p:nvPr/>
        </p:nvSpPr>
        <p:spPr>
          <a:xfrm>
            <a:off x="310896" y="2798064"/>
            <a:ext cx="1417320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>
            <a:defPPr>
              <a:defRPr>
                <a:solidFill>
                  <a:srgbClr val="E2E8F0"/>
                </a:solidFill>
              </a:defRPr>
            </a:defPPr>
            <a:lvl1pPr>
              <a:defRPr>
                <a:solidFill>
                  <a:srgbClr val="E2E8F0"/>
                </a:solidFill>
              </a:defRPr>
            </a:lvl1pPr>
            <a:lvl2pPr>
              <a:defRPr>
                <a:solidFill>
                  <a:srgbClr val="E2E8F0"/>
                </a:solidFill>
              </a:defRPr>
            </a:lvl2pPr>
            <a:lvl3pPr>
              <a:defRPr>
                <a:solidFill>
                  <a:srgbClr val="E2E8F0"/>
                </a:solidFill>
              </a:defRPr>
            </a:lvl3pPr>
            <a:lvl4pPr>
              <a:defRPr>
                <a:solidFill>
                  <a:srgbClr val="E2E8F0"/>
                </a:solidFill>
              </a:defRPr>
            </a:lvl4pPr>
            <a:lvl5pPr>
              <a:defRPr>
                <a:solidFill>
                  <a:srgbClr val="E2E8F0"/>
                </a:solidFill>
              </a:defRPr>
            </a:lvl5pPr>
            <a:lvl6pPr>
              <a:defRPr>
                <a:solidFill>
                  <a:srgbClr val="E2E8F0"/>
                </a:solidFill>
              </a:defRPr>
            </a:lvl6pPr>
            <a:lvl7pPr>
              <a:defRPr>
                <a:solidFill>
                  <a:srgbClr val="E2E8F0"/>
                </a:solidFill>
              </a:defRPr>
            </a:lvl7pPr>
            <a:lvl8pPr>
              <a:defRPr>
                <a:solidFill>
                  <a:srgbClr val="E2E8F0"/>
                </a:solidFill>
              </a:defRPr>
            </a:lvl8pPr>
            <a:lvl9pPr>
              <a:defRPr>
                <a:solidFill>
                  <a:srgbClr val="E2E8F0"/>
                </a:solidFill>
              </a:defRPr>
            </a:lvl9pPr>
          </a:lstStyle>
          <a:p>
            <a:pPr algn="l">
              <a:buNone/>
            </a:pPr>
            <a:r>
              <a:rPr sz="1350" b="1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DD54C-3478-4FE4-88B1-63463DDE4835}"/>
              </a:ext>
            </a:extLst>
          </p:cNvPr>
          <p:cNvSpPr>
            <a:spLocks noGrp="1"/>
          </p:cNvSpPr>
          <p:nvPr/>
        </p:nvSpPr>
        <p:spPr>
          <a:xfrm>
            <a:off x="310896" y="3310128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>
            <a:defPPr>
              <a:defRPr b="1">
                <a:solidFill>
                  <a:srgbClr val="06113C"/>
                </a:solidFill>
              </a:defRPr>
            </a:defPPr>
            <a:lvl1pPr>
              <a:defRPr b="1">
                <a:solidFill>
                  <a:srgbClr val="06113C"/>
                </a:solidFill>
              </a:defRPr>
            </a:lvl1pPr>
            <a:lvl2pPr>
              <a:defRPr b="1">
                <a:solidFill>
                  <a:srgbClr val="06113C"/>
                </a:solidFill>
              </a:defRPr>
            </a:lvl2pPr>
            <a:lvl3pPr>
              <a:defRPr b="1">
                <a:solidFill>
                  <a:srgbClr val="06113C"/>
                </a:solidFill>
              </a:defRPr>
            </a:lvl3pPr>
            <a:lvl4pPr>
              <a:defRPr b="1">
                <a:solidFill>
                  <a:srgbClr val="06113C"/>
                </a:solidFill>
              </a:defRPr>
            </a:lvl4pPr>
            <a:lvl5pPr>
              <a:defRPr b="1">
                <a:solidFill>
                  <a:srgbClr val="06113C"/>
                </a:solidFill>
              </a:defRPr>
            </a:lvl5pPr>
            <a:lvl6pPr>
              <a:defRPr b="1">
                <a:solidFill>
                  <a:srgbClr val="06113C"/>
                </a:solidFill>
              </a:defRPr>
            </a:lvl6pPr>
            <a:lvl7pPr>
              <a:defRPr b="1">
                <a:solidFill>
                  <a:srgbClr val="06113C"/>
                </a:solidFill>
              </a:defRPr>
            </a:lvl7pPr>
            <a:lvl8pPr>
              <a:defRPr b="1">
                <a:solidFill>
                  <a:srgbClr val="06113C"/>
                </a:solidFill>
              </a:defRPr>
            </a:lvl8pPr>
            <a:lvl9pPr>
              <a:defRPr b="1">
                <a:solidFill>
                  <a:srgbClr val="06113C"/>
                </a:solidFill>
              </a:defRPr>
            </a:lvl9pPr>
          </a:lstStyle>
          <a:p>
            <a:pPr algn="l">
              <a:buNone/>
              <a:defRPr b="1">
                <a:solidFill>
                  <a:srgbClr val="06113C"/>
                </a:solidFill>
              </a:defRPr>
            </a:pPr>
            <a:r>
              <a:rPr sz="1300" b="1">
                <a:solidFill>
                  <a:srgbClr val="06113C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36F43-71C4-45F1-9D40-0D4A1829AAEF}"/>
              </a:ext>
            </a:extLst>
          </p:cNvPr>
          <p:cNvSpPr>
            <a:spLocks noGrp="1"/>
          </p:cNvSpPr>
          <p:nvPr/>
        </p:nvSpPr>
        <p:spPr>
          <a:xfrm>
            <a:off x="310896" y="3822191"/>
            <a:ext cx="1417320" cy="223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300" b="0" dirty="0">
                <a:solidFill>
                  <a:srgbClr val="E0E9F6"/>
                </a:solidFill>
                <a:latin typeface="Aptos"/>
                <a:ea typeface="Aptos"/>
                <a:cs typeface="Aptos"/>
              </a:rPr>
              <a:t>Proyecto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6C24D-20AB-45F9-9057-5E3C89BE946A}"/>
              </a:ext>
            </a:extLst>
          </p:cNvPr>
          <p:cNvSpPr>
            <a:spLocks noGrp="1"/>
          </p:cNvSpPr>
          <p:nvPr/>
        </p:nvSpPr>
        <p:spPr>
          <a:xfrm>
            <a:off x="237744" y="6355080"/>
            <a:ext cx="1280160" cy="2006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KONOR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EFB4C-BEEC-4CBB-89DE-5C7B0C2043F1}"/>
              </a:ext>
            </a:extLst>
          </p:cNvPr>
          <p:cNvSpPr>
            <a:spLocks noGrp="1"/>
          </p:cNvSpPr>
          <p:nvPr/>
        </p:nvSpPr>
        <p:spPr>
          <a:xfrm>
            <a:off x="2578608" y="914400"/>
            <a:ext cx="9052560" cy="406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25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Solución propuesta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C34978C-28FF-4C2B-8779-01F1FCB21F29}"/>
              </a:ext>
            </a:extLst>
          </p:cNvPr>
          <p:cNvSpPr>
            <a:spLocks noGrp="1"/>
          </p:cNvSpPr>
          <p:nvPr/>
        </p:nvSpPr>
        <p:spPr>
          <a:xfrm>
            <a:off x="2578608" y="1664208"/>
            <a:ext cx="205740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8D9EA-728B-4743-95D2-6E427149E56B}"/>
              </a:ext>
            </a:extLst>
          </p:cNvPr>
          <p:cNvSpPr>
            <a:spLocks noGrp="1"/>
          </p:cNvSpPr>
          <p:nvPr/>
        </p:nvSpPr>
        <p:spPr>
          <a:xfrm>
            <a:off x="2606040" y="1709928"/>
            <a:ext cx="2002536" cy="2159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Asignación equitativa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2A107C7-38B4-4ABA-9828-31B1E42E405C}"/>
              </a:ext>
            </a:extLst>
          </p:cNvPr>
          <p:cNvSpPr>
            <a:spLocks noGrp="1"/>
          </p:cNvSpPr>
          <p:nvPr/>
        </p:nvSpPr>
        <p:spPr>
          <a:xfrm>
            <a:off x="4754880" y="1664208"/>
            <a:ext cx="1783080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88F90D-6FF9-47B5-9B96-2C4CDA3594F6}"/>
              </a:ext>
            </a:extLst>
          </p:cNvPr>
          <p:cNvSpPr>
            <a:spLocks noGrp="1"/>
          </p:cNvSpPr>
          <p:nvPr/>
        </p:nvSpPr>
        <p:spPr>
          <a:xfrm>
            <a:off x="4782312" y="1709928"/>
            <a:ext cx="1728216" cy="2159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Horas auditables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4A0D794-940E-4A1D-86E7-6CC35CFF137C}"/>
              </a:ext>
            </a:extLst>
          </p:cNvPr>
          <p:cNvSpPr>
            <a:spLocks noGrp="1"/>
          </p:cNvSpPr>
          <p:nvPr/>
        </p:nvSpPr>
        <p:spPr>
          <a:xfrm>
            <a:off x="6675120" y="1664208"/>
            <a:ext cx="1874519" cy="310896"/>
          </a:xfrm>
          <a:prstGeom prst="roundRect">
            <a:avLst/>
          </a:prstGeom>
          <a:solidFill>
            <a:srgbClr val="EC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490DB9-B4B4-4A91-B6FC-1350CD9E19AF}"/>
              </a:ext>
            </a:extLst>
          </p:cNvPr>
          <p:cNvSpPr>
            <a:spLocks noGrp="1"/>
          </p:cNvSpPr>
          <p:nvPr/>
        </p:nvSpPr>
        <p:spPr>
          <a:xfrm>
            <a:off x="6702552" y="1709928"/>
            <a:ext cx="1819655" cy="2159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Control del gasto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4F6198E-F905-4E4D-8001-B7B152F716EC}"/>
              </a:ext>
            </a:extLst>
          </p:cNvPr>
          <p:cNvSpPr>
            <a:spLocks noGrp="1"/>
          </p:cNvSpPr>
          <p:nvPr/>
        </p:nvSpPr>
        <p:spPr>
          <a:xfrm>
            <a:off x="2606040" y="2331720"/>
            <a:ext cx="9275064" cy="1801368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A02556E-4103-4725-9622-B2EC8FAB0C24}"/>
              </a:ext>
            </a:extLst>
          </p:cNvPr>
          <p:cNvSpPr>
            <a:spLocks noGrp="1"/>
          </p:cNvSpPr>
          <p:nvPr/>
        </p:nvSpPr>
        <p:spPr>
          <a:xfrm>
            <a:off x="2761487" y="2468880"/>
            <a:ext cx="617057" cy="594659"/>
          </a:xfrm>
          <a:prstGeom prst="round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0FD00E-9E7A-454F-B5F4-6E16145D682B}"/>
              </a:ext>
            </a:extLst>
          </p:cNvPr>
          <p:cNvSpPr>
            <a:spLocks noGrp="1"/>
          </p:cNvSpPr>
          <p:nvPr/>
        </p:nvSpPr>
        <p:spPr>
          <a:xfrm>
            <a:off x="2761487" y="2634259"/>
            <a:ext cx="617057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D13289-BC76-4B4A-B8D9-4C9D66D4D218}"/>
              </a:ext>
            </a:extLst>
          </p:cNvPr>
          <p:cNvSpPr>
            <a:spLocks noGrp="1"/>
          </p:cNvSpPr>
          <p:nvPr/>
        </p:nvSpPr>
        <p:spPr>
          <a:xfrm>
            <a:off x="3533991" y="2590352"/>
            <a:ext cx="3926729" cy="299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>
            <a:defPPr>
              <a:defRPr>
                <a:latin typeface="Aptos"/>
                <a:ea typeface="Aptos"/>
                <a:cs typeface="Aptos"/>
              </a:defRPr>
            </a:defPPr>
            <a:lvl1pPr>
              <a:defRPr>
                <a:latin typeface="Aptos"/>
                <a:ea typeface="Aptos"/>
                <a:cs typeface="Aptos"/>
              </a:defRPr>
            </a:lvl1pPr>
            <a:lvl2pPr>
              <a:defRPr>
                <a:latin typeface="Aptos"/>
                <a:ea typeface="Aptos"/>
                <a:cs typeface="Aptos"/>
              </a:defRPr>
            </a:lvl2pPr>
            <a:lvl3pPr>
              <a:defRPr>
                <a:latin typeface="Aptos"/>
                <a:ea typeface="Aptos"/>
                <a:cs typeface="Aptos"/>
              </a:defRPr>
            </a:lvl3pPr>
            <a:lvl4pPr>
              <a:defRPr>
                <a:latin typeface="Aptos"/>
                <a:ea typeface="Aptos"/>
                <a:cs typeface="Aptos"/>
              </a:defRPr>
            </a:lvl4pPr>
            <a:lvl5pPr>
              <a:defRPr>
                <a:latin typeface="Aptos"/>
                <a:ea typeface="Aptos"/>
                <a:cs typeface="Aptos"/>
              </a:defRPr>
            </a:lvl5pPr>
            <a:lvl6pPr>
              <a:defRPr>
                <a:latin typeface="Aptos"/>
                <a:ea typeface="Aptos"/>
                <a:cs typeface="Aptos"/>
              </a:defRPr>
            </a:lvl6pPr>
            <a:lvl7pPr>
              <a:defRPr>
                <a:latin typeface="Aptos"/>
                <a:ea typeface="Aptos"/>
                <a:cs typeface="Aptos"/>
              </a:defRPr>
            </a:lvl7pPr>
            <a:lvl8pPr>
              <a:defRPr>
                <a:latin typeface="Aptos"/>
                <a:ea typeface="Aptos"/>
                <a:cs typeface="Aptos"/>
              </a:defRPr>
            </a:lvl8pPr>
            <a:lvl9pPr>
              <a:defRPr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>
                <a:latin typeface="Aptos"/>
                <a:ea typeface="Aptos"/>
                <a:cs typeface="Aptos"/>
              </a:defRPr>
            </a:pPr>
            <a:r>
              <a:rPr>
                <a:latin typeface="Aptos"/>
                <a:ea typeface="Aptos"/>
                <a:cs typeface="Aptos"/>
              </a:rPr>
              <a:t>Disponibilidad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7A65FE-856D-4431-9D3F-439E0E8C2EC6}"/>
              </a:ext>
            </a:extLst>
          </p:cNvPr>
          <p:cNvSpPr>
            <a:spLocks noGrp="1"/>
          </p:cNvSpPr>
          <p:nvPr/>
        </p:nvSpPr>
        <p:spPr>
          <a:xfrm>
            <a:off x="6446519" y="2621130"/>
            <a:ext cx="5118771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buNone/>
            </a:pPr>
            <a:r>
              <a:rPr sz="140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Coordinación externa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B2CBA59-41A8-4352-A44A-86A18F9267E4}"/>
              </a:ext>
            </a:extLst>
          </p:cNvPr>
          <p:cNvSpPr>
            <a:spLocks noGrp="1"/>
          </p:cNvSpPr>
          <p:nvPr/>
        </p:nvSpPr>
        <p:spPr>
          <a:xfrm>
            <a:off x="2606040" y="3127248"/>
            <a:ext cx="9275064" cy="180136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13D0340-59FB-4B46-924F-C32A230B144E}"/>
              </a:ext>
            </a:extLst>
          </p:cNvPr>
          <p:cNvSpPr>
            <a:spLocks noGrp="1"/>
          </p:cNvSpPr>
          <p:nvPr/>
        </p:nvSpPr>
        <p:spPr>
          <a:xfrm>
            <a:off x="2761487" y="3234226"/>
            <a:ext cx="617057" cy="596323"/>
          </a:xfrm>
          <a:prstGeom prst="roundRect">
            <a:avLst/>
          </a:prstGeom>
          <a:solidFill>
            <a:srgbClr val="47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7F056-C89A-4B56-9564-251C37E18EFA}"/>
              </a:ext>
            </a:extLst>
          </p:cNvPr>
          <p:cNvSpPr>
            <a:spLocks noGrp="1"/>
          </p:cNvSpPr>
          <p:nvPr/>
        </p:nvSpPr>
        <p:spPr>
          <a:xfrm>
            <a:off x="2761487" y="3429787"/>
            <a:ext cx="617057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8460EB-EE5C-4E02-BF5A-30C3212D6A9C}"/>
              </a:ext>
            </a:extLst>
          </p:cNvPr>
          <p:cNvSpPr>
            <a:spLocks noGrp="1"/>
          </p:cNvSpPr>
          <p:nvPr/>
        </p:nvSpPr>
        <p:spPr>
          <a:xfrm>
            <a:off x="3533990" y="3401269"/>
            <a:ext cx="3926729" cy="269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Asignación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E5C0F0-F4EE-4BFF-8390-63ADD9A1807D}"/>
              </a:ext>
            </a:extLst>
          </p:cNvPr>
          <p:cNvSpPr>
            <a:spLocks noGrp="1"/>
          </p:cNvSpPr>
          <p:nvPr/>
        </p:nvSpPr>
        <p:spPr>
          <a:xfrm>
            <a:off x="6446519" y="3416658"/>
            <a:ext cx="5118771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buNone/>
            </a:pPr>
            <a:r>
              <a:rPr sz="140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Prioridad por menor carga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9E5030D-D031-44F8-BC8F-612B7AEBD4F3}"/>
              </a:ext>
            </a:extLst>
          </p:cNvPr>
          <p:cNvSpPr>
            <a:spLocks noGrp="1"/>
          </p:cNvSpPr>
          <p:nvPr/>
        </p:nvSpPr>
        <p:spPr>
          <a:xfrm>
            <a:off x="2606040" y="3922776"/>
            <a:ext cx="9329928" cy="1627632"/>
          </a:xfrm>
          <a:prstGeom prst="roundRect">
            <a:avLst/>
          </a:prstGeom>
          <a:solidFill>
            <a:srgbClr val="ECF9FC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58B0F0C-3051-4F77-8370-FF2236D20F93}"/>
              </a:ext>
            </a:extLst>
          </p:cNvPr>
          <p:cNvSpPr>
            <a:spLocks noGrp="1"/>
          </p:cNvSpPr>
          <p:nvPr/>
        </p:nvSpPr>
        <p:spPr>
          <a:xfrm>
            <a:off x="2761487" y="4041073"/>
            <a:ext cx="617057" cy="58500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330BE0-1E2F-4403-808A-AD7DC9927117}"/>
              </a:ext>
            </a:extLst>
          </p:cNvPr>
          <p:cNvSpPr>
            <a:spLocks noGrp="1"/>
          </p:cNvSpPr>
          <p:nvPr/>
        </p:nvSpPr>
        <p:spPr>
          <a:xfrm>
            <a:off x="2761487" y="4225315"/>
            <a:ext cx="617057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EB388-5AFB-47E3-A83F-EC408E297976}"/>
              </a:ext>
            </a:extLst>
          </p:cNvPr>
          <p:cNvSpPr>
            <a:spLocks noGrp="1"/>
          </p:cNvSpPr>
          <p:nvPr/>
        </p:nvSpPr>
        <p:spPr>
          <a:xfrm>
            <a:off x="3533989" y="4214107"/>
            <a:ext cx="3926729" cy="269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E72FFC-700D-4609-942A-C159E48F3137}"/>
              </a:ext>
            </a:extLst>
          </p:cNvPr>
          <p:cNvSpPr>
            <a:spLocks noGrp="1"/>
          </p:cNvSpPr>
          <p:nvPr/>
        </p:nvSpPr>
        <p:spPr>
          <a:xfrm>
            <a:off x="6446519" y="4212186"/>
            <a:ext cx="5118771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buNone/>
            </a:pPr>
            <a:r>
              <a:rPr sz="140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Registro digital de horas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5BCD15C-FD51-46E5-815D-6D6AE11C4836}"/>
              </a:ext>
            </a:extLst>
          </p:cNvPr>
          <p:cNvSpPr>
            <a:spLocks noGrp="1"/>
          </p:cNvSpPr>
          <p:nvPr/>
        </p:nvSpPr>
        <p:spPr>
          <a:xfrm>
            <a:off x="2606040" y="4718304"/>
            <a:ext cx="9275064" cy="832104"/>
          </a:xfrm>
          <a:prstGeom prst="roundRect">
            <a:avLst/>
          </a:prstGeom>
          <a:solidFill>
            <a:srgbClr val="ECFBF6"/>
          </a:solidFill>
          <a:ln w="12700">
            <a:solidFill>
              <a:srgbClr val="D4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B12BDF0-B3C5-48E4-8267-9E78645BF310}"/>
              </a:ext>
            </a:extLst>
          </p:cNvPr>
          <p:cNvSpPr>
            <a:spLocks noGrp="1"/>
          </p:cNvSpPr>
          <p:nvPr/>
        </p:nvSpPr>
        <p:spPr>
          <a:xfrm>
            <a:off x="2761486" y="4850743"/>
            <a:ext cx="617057" cy="54589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803E91-2B11-4E6D-B9AE-899E58AC25BC}"/>
              </a:ext>
            </a:extLst>
          </p:cNvPr>
          <p:cNvSpPr>
            <a:spLocks noGrp="1"/>
          </p:cNvSpPr>
          <p:nvPr/>
        </p:nvSpPr>
        <p:spPr>
          <a:xfrm>
            <a:off x="2761487" y="5020843"/>
            <a:ext cx="617057" cy="2311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A7B398-8467-4395-9320-F459D56441C4}"/>
              </a:ext>
            </a:extLst>
          </p:cNvPr>
          <p:cNvSpPr>
            <a:spLocks noGrp="1"/>
          </p:cNvSpPr>
          <p:nvPr/>
        </p:nvSpPr>
        <p:spPr>
          <a:xfrm>
            <a:off x="3533988" y="4998421"/>
            <a:ext cx="3926729" cy="269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4124C"/>
                </a:solidFill>
                <a:latin typeface="Aptos"/>
                <a:ea typeface="Aptos"/>
                <a:cs typeface="Aptos"/>
              </a:rPr>
              <a:t>Nómina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F52989-5C27-47E0-93EB-9D03C8BBD07A}"/>
              </a:ext>
            </a:extLst>
          </p:cNvPr>
          <p:cNvSpPr>
            <a:spLocks noGrp="1"/>
          </p:cNvSpPr>
          <p:nvPr/>
        </p:nvSpPr>
        <p:spPr>
          <a:xfrm>
            <a:off x="6446519" y="5007714"/>
            <a:ext cx="5118771" cy="238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buNone/>
            </a:pPr>
            <a:r>
              <a:rPr sz="1400" b="0">
                <a:solidFill>
                  <a:srgbClr val="12213F"/>
                </a:solidFill>
                <a:latin typeface="Aptos"/>
                <a:ea typeface="Aptos"/>
                <a:cs typeface="Aptos"/>
              </a:rPr>
              <a:t>Consolidación para pago</a:t>
            </a:r>
          </a:p>
        </p:txBody>
      </p:sp>
    </p:spTree>
    <p:extLst>
      <p:ext uri="{BB962C8B-B14F-4D97-AF65-F5344CB8AC3E}">
        <p14:creationId xmlns:p14="http://schemas.microsoft.com/office/powerpoint/2010/main" val="705423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DocSecurity>0</DocSecurity>
  <PresentationFormat>Panorámica</PresentationFormat>
  <Paragraphs>103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Danitza Tiare Arias Garrido</cp:lastModifiedBy>
  <cp:revision>1</cp:revision>
  <dcterms:created xsi:type="dcterms:W3CDTF">2026-10-23T16:06:41Z</dcterms:created>
  <dcterms:modified xsi:type="dcterms:W3CDTF">2026-10-23T16:26:52Z</dcterms:modified>
</cp:coreProperties>
</file>